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109728" cy="539496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60120"/>
            <a:ext cx="9966960" cy="1508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A Framework for Evaluating</a:t>
            </a:r>
            <a:br/>
            <a:r>
              <a:t>Reliability and Failure Propagation</a:t>
            </a:r>
            <a:br/>
            <a:r>
              <a:t>in Multi-Agent AI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484632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1B998B"/>
                </a:solidFill>
                <a:latin typeface="Aptos"/>
              </a:defRPr>
            </a:pPr>
            <a:r>
              <a:t>MAS-RELIAB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02152"/>
            <a:ext cx="8046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0">
                <a:solidFill>
                  <a:srgbClr val="DCE5EA"/>
                </a:solidFill>
                <a:latin typeface="Aptos"/>
              </a:defRPr>
            </a:pPr>
            <a:r>
              <a:t>Research Paper and Viva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45720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Dev Parth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26864"/>
            <a:ext cx="731520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B9C7CE"/>
                </a:solidFill>
                <a:latin typeface="Aptos"/>
              </a:defRPr>
            </a:pPr>
            <a:r>
              <a:t>Pre-experimental, results-ready protocol  •  16 August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17152" y="5266944"/>
            <a:ext cx="2103120" cy="384048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44584" y="5321807"/>
            <a:ext cx="2048255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DEFENCE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Scientific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What this defence does—and does not—claim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4008" cy="3337560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493776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1B998B"/>
                </a:solidFill>
                <a:latin typeface="Aptos"/>
              </a:defRPr>
            </a:pPr>
            <a:r>
              <a:t>Complete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4937760" cy="26791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0">
                <a:solidFill>
                  <a:srgbClr val="23323D"/>
                </a:solidFill>
                <a:latin typeface="Aptos"/>
              </a:defRPr>
            </a:pPr>
            <a:r>
              <a:t>Formal framework • task schema • fault operators • metrics • six experiments • statistical plan • results shell • viva defence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17320"/>
            <a:ext cx="52578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5352" y="1417320"/>
            <a:ext cx="64008" cy="3337560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63624"/>
            <a:ext cx="493776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D95D5D"/>
                </a:solidFill>
                <a:latin typeface="Aptos"/>
              </a:defRPr>
            </a:pPr>
            <a:r>
              <a:t>Pending empirical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4937760" cy="26791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0">
                <a:solidFill>
                  <a:srgbClr val="23323D"/>
                </a:solidFill>
                <a:latin typeface="Aptos"/>
              </a:defRPr>
            </a:pPr>
            <a:r>
              <a:t>No run traces • no estimates • no confidence intervals • no p-values • no hypothesis outcomes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5074920"/>
            <a:ext cx="10808208" cy="658368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103784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600" b="1">
                <a:solidFill>
                  <a:srgbClr val="D95D5D"/>
                </a:solidFill>
                <a:latin typeface="Aptos"/>
              </a:defRPr>
            </a:pPr>
            <a:r>
              <a:t>Every Results value remains “—” until populated from the frozen analysis pipeline.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6144768"/>
            <a:ext cx="2176272" cy="310896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3184" y="6190488"/>
            <a:ext cx="2029968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830" b="1">
                <a:solidFill>
                  <a:srgbClr val="D95D5D"/>
                </a:solidFill>
                <a:latin typeface="Aptos"/>
              </a:defRPr>
            </a:pPr>
            <a:r>
              <a:t>NO EMPIRICAL RESULT YET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A local error can become a system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Multi-agent collaboration creates dependency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7" name="Picture 6" descr="figure_02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040880" cy="336394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46304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73568" y="1463040"/>
            <a:ext cx="64008" cy="1051560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1609344"/>
            <a:ext cx="32004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1">
                <a:solidFill>
                  <a:srgbClr val="D95D5D"/>
                </a:solidFill>
                <a:latin typeface="Aptos"/>
              </a:defRPr>
            </a:pPr>
            <a:r>
              <a:t>1. Origin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4736" y="2011680"/>
            <a:ext cx="3200400" cy="3931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00" b="0">
                <a:solidFill>
                  <a:srgbClr val="23323D"/>
                </a:solidFill>
                <a:latin typeface="Aptos"/>
              </a:defRPr>
            </a:pPr>
            <a:r>
              <a:t>A wrong fact, truncated handoff, stale tool result, or manager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269748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73568" y="2697480"/>
            <a:ext cx="64008" cy="105156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2843784"/>
            <a:ext cx="32004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1">
                <a:solidFill>
                  <a:srgbClr val="F4A261"/>
                </a:solidFill>
                <a:latin typeface="Aptos"/>
              </a:defRPr>
            </a:pPr>
            <a:r>
              <a:t>2. Transmission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3246120"/>
            <a:ext cx="3200400" cy="3931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00" b="0">
                <a:solidFill>
                  <a:srgbClr val="23323D"/>
                </a:solidFill>
                <a:latin typeface="Aptos"/>
              </a:defRPr>
            </a:pPr>
            <a:r>
              <a:t>Downstream agents consume and reuse the altered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39319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73568" y="3931920"/>
            <a:ext cx="64008" cy="1051560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4078224"/>
            <a:ext cx="32004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1">
                <a:solidFill>
                  <a:srgbClr val="7A5AF8"/>
                </a:solidFill>
                <a:latin typeface="Aptos"/>
              </a:defRPr>
            </a:pPr>
            <a:r>
              <a:t>3.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4480559"/>
            <a:ext cx="3200400" cy="3931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00" b="0">
                <a:solidFill>
                  <a:srgbClr val="23323D"/>
                </a:solidFill>
                <a:latin typeface="Aptos"/>
              </a:defRPr>
            </a:pPr>
            <a:r>
              <a:t>The team may converge on a coherent but invalid end state.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5230368"/>
            <a:ext cx="3429000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ptos"/>
              </a:defRPr>
            </a:pPr>
            <a:r>
              <a:t>Question: where did it start, how far did it travel, and what contained it?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Why final task success is insufficient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A binary score collapses operationally different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71600"/>
            <a:ext cx="3337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64008" cy="1572768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30175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1">
                <a:solidFill>
                  <a:srgbClr val="1B998B"/>
                </a:solidFill>
                <a:latin typeface="Aptos"/>
              </a:defRPr>
            </a:pPr>
            <a:r>
              <a:t>Repeatability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01752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Passed once; does it pass across k repeats?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371600"/>
            <a:ext cx="3337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3984" y="1371600"/>
            <a:ext cx="64008" cy="1572768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517904"/>
            <a:ext cx="30175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1">
                <a:solidFill>
                  <a:srgbClr val="146C94"/>
                </a:solidFill>
                <a:latin typeface="Aptos"/>
              </a:defRPr>
            </a:pPr>
            <a:r>
              <a:t>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920240"/>
            <a:ext cx="301752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What happens under paraphrase, tool faults, or stale state?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371600"/>
            <a:ext cx="3337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371600"/>
            <a:ext cx="64008" cy="1572768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517904"/>
            <a:ext cx="30175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1">
                <a:solidFill>
                  <a:srgbClr val="7A5AF8"/>
                </a:solidFill>
                <a:latin typeface="Aptos"/>
              </a:defRPr>
            </a:pPr>
            <a:r>
              <a:t>Propagation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1920240"/>
            <a:ext cx="301752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Did one fault spread to one node or the whole team?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319272"/>
            <a:ext cx="3337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3319272"/>
            <a:ext cx="64008" cy="1572768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65576"/>
            <a:ext cx="30175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1">
                <a:solidFill>
                  <a:srgbClr val="D95D5D"/>
                </a:solidFill>
                <a:latin typeface="Aptos"/>
              </a:defRPr>
            </a:pPr>
            <a:r>
              <a:t>Attribution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67911"/>
            <a:ext cx="301752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Can we find the responsible agent and decisive step?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3984" y="3319272"/>
            <a:ext cx="3337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43984" y="3319272"/>
            <a:ext cx="64008" cy="1572768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3465576"/>
            <a:ext cx="30175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1">
                <a:solidFill>
                  <a:srgbClr val="F4A261"/>
                </a:solidFill>
                <a:latin typeface="Aptos"/>
              </a:defRPr>
            </a:pPr>
            <a:r>
              <a:t>Mitigation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867911"/>
            <a:ext cx="301752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Did verification or recovery actually contain the lineage?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3319272"/>
            <a:ext cx="3337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74736" y="3319272"/>
            <a:ext cx="64008" cy="1572768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3465576"/>
            <a:ext cx="30175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1">
                <a:solidFill>
                  <a:srgbClr val="657681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867911"/>
            <a:ext cx="301752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How many tokens, calls, seconds, and currency units?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Related work covers major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MAS-RELIAB must be positioned as integration, not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35024"/>
            <a:ext cx="25877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35024"/>
            <a:ext cx="64008" cy="1060704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81328"/>
            <a:ext cx="226771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1">
                <a:solidFill>
                  <a:srgbClr val="1B998B"/>
                </a:solidFill>
                <a:latin typeface="Aptos"/>
              </a:defRPr>
            </a:pPr>
            <a:r>
              <a:t>MAST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83664"/>
            <a:ext cx="2267712" cy="4023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50" b="0">
                <a:solidFill>
                  <a:srgbClr val="23323D"/>
                </a:solidFill>
                <a:latin typeface="Aptos"/>
              </a:defRPr>
            </a:pPr>
            <a:r>
              <a:t>failure taxonomy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335024"/>
            <a:ext cx="25877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1335024"/>
            <a:ext cx="64008" cy="1060704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481328"/>
            <a:ext cx="226771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1">
                <a:solidFill>
                  <a:srgbClr val="146C94"/>
                </a:solidFill>
                <a:latin typeface="Aptos"/>
              </a:defRPr>
            </a:pPr>
            <a:r>
              <a:t>τ-bench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883664"/>
            <a:ext cx="2267712" cy="4023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50" b="0">
                <a:solidFill>
                  <a:srgbClr val="23323D"/>
                </a:solidFill>
                <a:latin typeface="Aptos"/>
              </a:defRPr>
            </a:pPr>
            <a:r>
              <a:t>state + pass^k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335024"/>
            <a:ext cx="25877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335024"/>
            <a:ext cx="64008" cy="1060704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481328"/>
            <a:ext cx="226771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1">
                <a:solidFill>
                  <a:srgbClr val="7A5AF8"/>
                </a:solidFill>
                <a:latin typeface="Aptos"/>
              </a:defRPr>
            </a:pPr>
            <a:r>
              <a:t>ReliabilityBench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1883664"/>
            <a:ext cx="2267712" cy="4023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50" b="0">
                <a:solidFill>
                  <a:srgbClr val="23323D"/>
                </a:solidFill>
                <a:latin typeface="Aptos"/>
              </a:defRPr>
            </a:pPr>
            <a:r>
              <a:t>repeats + tool faults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335024"/>
            <a:ext cx="25877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1335024"/>
            <a:ext cx="64008" cy="1060704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481328"/>
            <a:ext cx="226771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1">
                <a:solidFill>
                  <a:srgbClr val="F4A261"/>
                </a:solidFill>
                <a:latin typeface="Aptos"/>
              </a:defRPr>
            </a:pPr>
            <a:r>
              <a:t>TraceElephant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1883664"/>
            <a:ext cx="2267712" cy="4023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50" b="0">
                <a:solidFill>
                  <a:srgbClr val="23323D"/>
                </a:solidFill>
                <a:latin typeface="Aptos"/>
              </a:defRPr>
            </a:pPr>
            <a:r>
              <a:t>full-trace attribution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688336"/>
            <a:ext cx="25877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2688336"/>
            <a:ext cx="64008" cy="1060704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2834640"/>
            <a:ext cx="226771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1">
                <a:solidFill>
                  <a:srgbClr val="D95D5D"/>
                </a:solidFill>
                <a:latin typeface="Aptos"/>
              </a:defRPr>
            </a:pPr>
            <a:r>
              <a:t>AgenTracer / ErrorProbe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236976"/>
            <a:ext cx="2267712" cy="4023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50" b="0">
                <a:solidFill>
                  <a:srgbClr val="23323D"/>
                </a:solidFill>
                <a:latin typeface="Aptos"/>
              </a:defRPr>
            </a:pPr>
            <a:r>
              <a:t>origin diagnosis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2688336"/>
            <a:ext cx="25877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20440" y="2688336"/>
            <a:ext cx="64008" cy="1060704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834640"/>
            <a:ext cx="226771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1">
                <a:solidFill>
                  <a:srgbClr val="2A9D8F"/>
                </a:solidFill>
                <a:latin typeface="Aptos"/>
              </a:defRPr>
            </a:pPr>
            <a:r>
              <a:t>AgentAsk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3236976"/>
            <a:ext cx="2267712" cy="4023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50" b="0">
                <a:solidFill>
                  <a:srgbClr val="23323D"/>
                </a:solidFill>
                <a:latin typeface="Aptos"/>
              </a:defRPr>
            </a:pPr>
            <a:r>
              <a:t>handoff containment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688336"/>
            <a:ext cx="25877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2688336"/>
            <a:ext cx="64008" cy="1060704"/>
          </a:xfrm>
          <a:prstGeom prst="roundRect">
            <a:avLst>
              <a:gd name="adj" fmla="val 8000"/>
            </a:avLst>
          </a:prstGeom>
          <a:solidFill>
            <a:srgbClr val="54C6EB"/>
          </a:solidFill>
          <a:ln>
            <a:solidFill>
              <a:srgbClr val="54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2834640"/>
            <a:ext cx="226771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1">
                <a:solidFill>
                  <a:srgbClr val="54C6EB"/>
                </a:solidFill>
                <a:latin typeface="Aptos"/>
              </a:defRPr>
            </a:pPr>
            <a:r>
              <a:t>RiskLab / TAMAS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3236976"/>
            <a:ext cx="2267712" cy="4023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50" b="0">
                <a:solidFill>
                  <a:srgbClr val="23323D"/>
                </a:solidFill>
                <a:latin typeface="Aptos"/>
              </a:defRPr>
            </a:pPr>
            <a:r>
              <a:t>controlled risk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2688336"/>
            <a:ext cx="25877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89720" y="2688336"/>
            <a:ext cx="64008" cy="1060704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0888" y="2834640"/>
            <a:ext cx="226771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1">
                <a:solidFill>
                  <a:srgbClr val="657681"/>
                </a:solidFill>
                <a:latin typeface="Aptos"/>
              </a:defRPr>
            </a:pPr>
            <a:r>
              <a:t>MultiAgentBench / SILO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3236976"/>
            <a:ext cx="2267712" cy="4023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50" b="0">
                <a:solidFill>
                  <a:srgbClr val="23323D"/>
                </a:solidFill>
                <a:latin typeface="Aptos"/>
              </a:defRPr>
            </a:pPr>
            <a:r>
              <a:t>topology + coordination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251960"/>
            <a:ext cx="10899648" cy="1170432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4453128"/>
            <a:ext cx="2331720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D95D5D"/>
                </a:solidFill>
                <a:latin typeface="Aptos"/>
              </a:defRPr>
            </a:pPr>
            <a:r>
              <a:t>Closest overlap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8064" y="4407408"/>
            <a:ext cx="8439912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23323D"/>
                </a:solidFill>
                <a:latin typeface="Aptos"/>
              </a:defRPr>
            </a:pPr>
            <a:r>
              <a:t>From Spark to Fire already uses directed dependency graphs, atomic error seeds, cascade analysis, topology sensitivity, and mitigation.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5596128"/>
            <a:ext cx="10332720" cy="3383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D95D5D"/>
                </a:solidFill>
                <a:latin typeface="Aptos"/>
              </a:defRPr>
            </a:pPr>
            <a:r>
              <a:t>Therefore: no claim that graph-based propagation or cascade mitigation is novel.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6583680"/>
            <a:ext cx="564184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720" b="0">
                <a:solidFill>
                  <a:srgbClr val="657681"/>
                </a:solidFill>
                <a:latin typeface="Aptos"/>
              </a:defRPr>
            </a:pPr>
            <a:r>
              <a:t>[1–15] in manuscript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Defensible novelty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The contribution is the controlled linkage of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7" name="Picture 6" descr="figure_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537960" cy="37273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88352" y="1344168"/>
            <a:ext cx="4133087" cy="3502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88352" y="1344168"/>
            <a:ext cx="64008" cy="3502152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490472"/>
            <a:ext cx="381304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1B998B"/>
                </a:solidFill>
                <a:latin typeface="Aptos"/>
              </a:defRPr>
            </a:pPr>
            <a:r>
              <a:t>MAS-RELIAB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892807"/>
            <a:ext cx="3813048" cy="28437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0">
                <a:solidFill>
                  <a:srgbClr val="23323D"/>
                </a:solidFill>
                <a:latin typeface="Aptos"/>
              </a:defRPr>
            </a:pPr>
            <a:r>
              <a:t>One paired protocol connects:</a:t>
            </a:r>
            <a:br/>
            <a:br/>
            <a:r>
              <a:t>• multidimensional reliability</a:t>
            </a:r>
            <a:br/>
            <a:r>
              <a:t>• verified fault injection</a:t>
            </a:r>
            <a:br/>
            <a:r>
              <a:t>• graph-normalized propagation</a:t>
            </a:r>
            <a:br/>
            <a:r>
              <a:t>• evidence-view attribution</a:t>
            </a:r>
            <a:br/>
            <a:r>
              <a:t>• verification and recovery</a:t>
            </a:r>
            <a:br/>
            <a:r>
              <a:t>• budget-matched topology</a:t>
            </a:r>
            <a:br/>
            <a:r>
              <a:t>• tokens, latency, and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88352" y="5084064"/>
            <a:ext cx="4133087" cy="585216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5239512"/>
            <a:ext cx="3822191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1">
                <a:solidFill>
                  <a:srgbClr val="D95D5D"/>
                </a:solidFill>
                <a:latin typeface="Aptos"/>
              </a:defRPr>
            </a:pPr>
            <a:r>
              <a:t>Methodology claim ≠ empirical superiority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Aim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Turn “reliable” into reproducible measurements and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34440"/>
            <a:ext cx="10698480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800" b="1">
                <a:solidFill>
                  <a:srgbClr val="0B1F33"/>
                </a:solidFill>
                <a:latin typeface="Aptos"/>
              </a:defRPr>
            </a:pPr>
            <a:r>
              <a:t>Aim: design and empirically validate MAS-RELIAB as a reproducible method for measuring reliability and failure propagation in multi-agent AI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10058400" cy="3566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B998B"/>
                </a:solidFill>
                <a:latin typeface="Aptos"/>
              </a:rPr>
              <a:t>● </a:t>
            </a:r>
            <a:r>
              <a:rPr b="1" sz="1700">
                <a:solidFill>
                  <a:srgbClr val="23323D"/>
                </a:solidFill>
                <a:latin typeface="Aptos"/>
              </a:rPr>
              <a:t>Represent </a:t>
            </a:r>
            <a:r>
              <a:rPr sz="1700">
                <a:solidFill>
                  <a:srgbClr val="23323D"/>
                </a:solidFill>
                <a:latin typeface="Aptos"/>
              </a:rPr>
              <a:t>agents, events, tools, and state as time-aware dependencies.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998B"/>
                </a:solidFill>
                <a:latin typeface="Aptos"/>
              </a:rPr>
              <a:t>● </a:t>
            </a:r>
            <a:r>
              <a:rPr b="1" sz="1700">
                <a:solidFill>
                  <a:srgbClr val="23323D"/>
                </a:solidFill>
                <a:latin typeface="Aptos"/>
              </a:rPr>
              <a:t>Inject </a:t>
            </a:r>
            <a:r>
              <a:rPr sz="1700">
                <a:solidFill>
                  <a:srgbClr val="23323D"/>
                </a:solidFill>
                <a:latin typeface="Aptos"/>
              </a:rPr>
              <a:t>documented faults with applied and consumed checks.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998B"/>
                </a:solidFill>
                <a:latin typeface="Aptos"/>
              </a:rPr>
              <a:t>● </a:t>
            </a:r>
            <a:r>
              <a:rPr b="1" sz="1700">
                <a:solidFill>
                  <a:srgbClr val="23323D"/>
                </a:solidFill>
                <a:latin typeface="Aptos"/>
              </a:rPr>
              <a:t>Measure </a:t>
            </a:r>
            <a:r>
              <a:rPr sz="1700">
                <a:solidFill>
                  <a:srgbClr val="23323D"/>
                </a:solidFill>
                <a:latin typeface="Aptos"/>
              </a:rPr>
              <a:t>outcome, repeatability, robustness, propagation, attribution, recovery, and resources.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998B"/>
                </a:solidFill>
                <a:latin typeface="Aptos"/>
              </a:rPr>
              <a:t>● </a:t>
            </a:r>
            <a:r>
              <a:rPr b="1" sz="1700">
                <a:solidFill>
                  <a:srgbClr val="23323D"/>
                </a:solidFill>
                <a:latin typeface="Aptos"/>
              </a:rPr>
              <a:t>Compare </a:t>
            </a:r>
            <a:r>
              <a:rPr sz="1700">
                <a:solidFill>
                  <a:srgbClr val="23323D"/>
                </a:solidFill>
                <a:latin typeface="Aptos"/>
              </a:rPr>
              <a:t>single, sequential, parallel, and hierarchical architectures under controls.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998B"/>
                </a:solidFill>
                <a:latin typeface="Aptos"/>
              </a:rPr>
              <a:t>● </a:t>
            </a:r>
            <a:r>
              <a:rPr b="1" sz="1700">
                <a:solidFill>
                  <a:srgbClr val="23323D"/>
                </a:solidFill>
                <a:latin typeface="Aptos"/>
              </a:rPr>
              <a:t>Release </a:t>
            </a:r>
            <a:r>
              <a:rPr sz="1700">
                <a:solidFill>
                  <a:srgbClr val="23323D"/>
                </a:solidFill>
                <a:latin typeface="Aptos"/>
              </a:rPr>
              <a:t>schemas, manifests, analysis rules, and results-ready artifacts.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Research questions RQ1–RQ6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Each question maps to one confirmatory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536192"/>
            <a:ext cx="658368" cy="384048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91056"/>
            <a:ext cx="603503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45336"/>
            <a:ext cx="21488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292608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0">
                <a:solidFill>
                  <a:srgbClr val="23323D"/>
                </a:solidFill>
                <a:latin typeface="Aptos"/>
              </a:defRPr>
            </a:pPr>
            <a:r>
              <a:t>Beyond one success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371600"/>
            <a:ext cx="338328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36192"/>
            <a:ext cx="658368" cy="384048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591056"/>
            <a:ext cx="603503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8" y="1545336"/>
            <a:ext cx="21488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Propagation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121408"/>
            <a:ext cx="292608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0">
                <a:solidFill>
                  <a:srgbClr val="23323D"/>
                </a:solidFill>
                <a:latin typeface="Aptos"/>
              </a:defRPr>
            </a:pPr>
            <a:r>
              <a:t>Fault type, severity, position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6" y="1371600"/>
            <a:ext cx="338328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30768" y="1536192"/>
            <a:ext cx="658368" cy="384048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591056"/>
            <a:ext cx="603503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545336"/>
            <a:ext cx="21488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Attribution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121408"/>
            <a:ext cx="292608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0">
                <a:solidFill>
                  <a:srgbClr val="23323D"/>
                </a:solidFill>
                <a:latin typeface="Aptos"/>
              </a:defRPr>
            </a:pPr>
            <a:r>
              <a:t>Effect of observability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37560"/>
            <a:ext cx="338328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3502152"/>
            <a:ext cx="658368" cy="384048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3557016"/>
            <a:ext cx="603503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511296"/>
            <a:ext cx="21488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087368"/>
            <a:ext cx="292608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0">
                <a:solidFill>
                  <a:srgbClr val="23323D"/>
                </a:solidFill>
                <a:latin typeface="Aptos"/>
              </a:defRPr>
            </a:pPr>
            <a:r>
              <a:t>Local vs final-only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3337560"/>
            <a:ext cx="338328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63440" y="3502152"/>
            <a:ext cx="658368" cy="384048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557016"/>
            <a:ext cx="603503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RQ5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3511296"/>
            <a:ext cx="21488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0016" y="4087368"/>
            <a:ext cx="292608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0">
                <a:solidFill>
                  <a:srgbClr val="23323D"/>
                </a:solidFill>
                <a:latin typeface="Aptos"/>
              </a:defRPr>
            </a:pPr>
            <a:r>
              <a:t>Reliability–cost trade-off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66176" y="3337560"/>
            <a:ext cx="338328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30768" y="3502152"/>
            <a:ext cx="658368" cy="384048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557016"/>
            <a:ext cx="603503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RQ6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3511296"/>
            <a:ext cx="21488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Topology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4087368"/>
            <a:ext cx="292608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0">
                <a:solidFill>
                  <a:srgbClr val="23323D"/>
                </a:solidFill>
                <a:latin typeface="Aptos"/>
              </a:defRPr>
            </a:pPr>
            <a:r>
              <a:t>Architecture × fault location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Preregistered hypotheses H1–H6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Falsifiable claims—not 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261872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261872"/>
            <a:ext cx="64008" cy="1170432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08175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D95D5D"/>
                </a:solidFill>
                <a:latin typeface="Aptos"/>
              </a:defRPr>
            </a:pPr>
            <a: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Earlier faults → greater normalized impact/depth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261872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1261872"/>
            <a:ext cx="64008" cy="1170432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08175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1B998B"/>
                </a:solidFill>
                <a:latin typeface="Aptos"/>
              </a:defRPr>
            </a:pPr>
            <a: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10512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Full traces → better agent + step attribution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2743200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274320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89504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146C94"/>
                </a:solidFill>
                <a:latin typeface="Aptos"/>
              </a:defRPr>
            </a:pPr>
            <a:r>
              <a:t>H3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291840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Local verification → lower EPR and DAF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743200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91072" y="274320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89504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Aptos"/>
              </a:defRPr>
            </a:pPr>
            <a:r>
              <a:t>H4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91840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Rollback / alternate agent → more recovery, more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4224528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" y="4224528"/>
            <a:ext cx="64008" cy="1170432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370832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7A5AF8"/>
                </a:solidFill>
                <a:latin typeface="Aptos"/>
              </a:defRPr>
            </a:pPr>
            <a:r>
              <a:t>H5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773168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Topology interacts with fault location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224528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91072" y="4224528"/>
            <a:ext cx="64008" cy="1170432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370832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657681"/>
                </a:solidFill>
                <a:latin typeface="Aptos"/>
              </a:defRPr>
            </a:pPr>
            <a:r>
              <a:t>H6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73168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50" b="0">
                <a:solidFill>
                  <a:srgbClr val="23323D"/>
                </a:solidFill>
                <a:latin typeface="Aptos"/>
              </a:defRPr>
            </a:pPr>
            <a:r>
              <a:t>Multidimensional profile reveals masked weaknesses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10469880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D95D5D"/>
                </a:solidFill>
                <a:latin typeface="Aptos"/>
              </a:defRPr>
            </a:pPr>
            <a:r>
              <a:t>Null, mixed, or contradictory findings will be reported without reframing.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00032" y="6144768"/>
            <a:ext cx="2176272" cy="310896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73184" y="6190488"/>
            <a:ext cx="2029968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830" b="1">
                <a:solidFill>
                  <a:srgbClr val="D95D5D"/>
                </a:solidFill>
                <a:latin typeface="Aptos"/>
              </a:defRPr>
            </a:pPr>
            <a:r>
              <a:t>NO EMPIRICAL RESULT YET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Separation of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AI Command Center executes; MAS-RELIAB defines the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figure_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70432"/>
            <a:ext cx="10287000" cy="586467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Formal episode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One immutable record links configuration, intervention, trace, outcome, and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44200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Cambria Math"/>
              </a:defRPr>
            </a:pPr>
            <a:r>
              <a:t>𝓔 = ⟨ τ, G, Π, Ω, I, X, Y, C 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03704"/>
            <a:ext cx="45720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900" b="1">
                <a:solidFill>
                  <a:srgbClr val="1B998B"/>
                </a:solidFill>
                <a:latin typeface="Cambria Math"/>
              </a:defRPr>
            </a:pPr>
            <a:r>
              <a:t>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231136"/>
            <a:ext cx="1755648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150" b="1">
                <a:solidFill>
                  <a:srgbClr val="23323D"/>
                </a:solidFill>
                <a:latin typeface="Aptos"/>
              </a:defRPr>
            </a:pPr>
            <a:r>
              <a:t>versioned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015" y="205740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203704"/>
            <a:ext cx="45720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900" b="1">
                <a:solidFill>
                  <a:srgbClr val="1B998B"/>
                </a:solidFill>
                <a:latin typeface="Cambria Math"/>
              </a:defRPr>
            </a:pPr>
            <a: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6" y="2231136"/>
            <a:ext cx="1755648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150" b="1">
                <a:solidFill>
                  <a:srgbClr val="23323D"/>
                </a:solidFill>
                <a:latin typeface="Aptos"/>
              </a:defRPr>
            </a:pPr>
            <a:r>
              <a:t>dependency 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5740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03704"/>
            <a:ext cx="45720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900" b="1">
                <a:solidFill>
                  <a:srgbClr val="1B998B"/>
                </a:solidFill>
                <a:latin typeface="Cambria Math"/>
              </a:defRPr>
            </a:pPr>
            <a:r>
              <a:t>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31136"/>
            <a:ext cx="1755648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150" b="1">
                <a:solidFill>
                  <a:srgbClr val="23323D"/>
                </a:solidFill>
                <a:latin typeface="Aptos"/>
              </a:defRPr>
            </a:pPr>
            <a:r>
              <a:t>model / roles /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44584" y="205740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2203704"/>
            <a:ext cx="45720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900" b="1">
                <a:solidFill>
                  <a:srgbClr val="1B998B"/>
                </a:solidFill>
                <a:latin typeface="Cambria Math"/>
              </a:defRPr>
            </a:pPr>
            <a:r>
              <a:t>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4663" y="2231136"/>
            <a:ext cx="1755648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150" b="1">
                <a:solidFill>
                  <a:srgbClr val="23323D"/>
                </a:solidFill>
                <a:latin typeface="Aptos"/>
              </a:defRPr>
            </a:pPr>
            <a:r>
              <a:t>environment 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3375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483864"/>
            <a:ext cx="45720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900" b="1">
                <a:solidFill>
                  <a:srgbClr val="1B998B"/>
                </a:solidFill>
                <a:latin typeface="Cambria Math"/>
              </a:defRPr>
            </a:pPr>
            <a: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11296"/>
            <a:ext cx="1755648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150" b="1">
                <a:solidFill>
                  <a:srgbClr val="23323D"/>
                </a:solidFill>
                <a:latin typeface="Aptos"/>
              </a:defRPr>
            </a:pPr>
            <a:r>
              <a:t>fault or null intervention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7015" y="33375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4176" y="3483864"/>
            <a:ext cx="45720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900" b="1">
                <a:solidFill>
                  <a:srgbClr val="1B998B"/>
                </a:solidFill>
                <a:latin typeface="Cambria Math"/>
              </a:defRPr>
            </a:pPr>
            <a: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7096" y="3511296"/>
            <a:ext cx="1755648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150" b="1">
                <a:solidFill>
                  <a:srgbClr val="23323D"/>
                </a:solidFill>
                <a:latin typeface="Aptos"/>
              </a:defRPr>
            </a:pPr>
            <a:r>
              <a:t>ordered trace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3375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483864"/>
            <a:ext cx="45720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900" b="1">
                <a:solidFill>
                  <a:srgbClr val="1B998B"/>
                </a:solidFill>
                <a:latin typeface="Cambria Math"/>
              </a:defRPr>
            </a:pPr>
            <a: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511296"/>
            <a:ext cx="1755648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150" b="1">
                <a:solidFill>
                  <a:srgbClr val="23323D"/>
                </a:solidFill>
                <a:latin typeface="Aptos"/>
              </a:defRPr>
            </a:pPr>
            <a:r>
              <a:t>validated outcome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44584" y="33375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3483864"/>
            <a:ext cx="45720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900" b="1">
                <a:solidFill>
                  <a:srgbClr val="1B998B"/>
                </a:solidFill>
                <a:latin typeface="Cambria Math"/>
              </a:defRPr>
            </a:pPr>
            <a: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3" y="3511296"/>
            <a:ext cx="1755648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150" b="1">
                <a:solidFill>
                  <a:srgbClr val="23323D"/>
                </a:solidFill>
                <a:latin typeface="Aptos"/>
              </a:defRPr>
            </a:pPr>
            <a:r>
              <a:t>resource record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4928616"/>
            <a:ext cx="9738360" cy="576072"/>
          </a:xfrm>
          <a:prstGeom prst="roundRect">
            <a:avLst>
              <a:gd name="adj" fmla="val 8000"/>
            </a:avLst>
          </a:prstGeom>
          <a:solidFill>
            <a:srgbClr val="EAF5F3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5084064"/>
            <a:ext cx="9372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400" b="1">
                <a:solidFill>
                  <a:srgbClr val="1B998B"/>
                </a:solidFill>
                <a:latin typeface="Aptos"/>
              </a:defRPr>
            </a:pPr>
            <a:r>
              <a:t>Valid injection = applied as specified AND consumed by the intended component.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Propagation is measured on reachable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Temporal succession alone is not causal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figure_02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61288"/>
            <a:ext cx="7086600" cy="33857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353312"/>
            <a:ext cx="354787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73568" y="1353312"/>
            <a:ext cx="64008" cy="1078992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1499616"/>
            <a:ext cx="322783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D95D5D"/>
                </a:solidFill>
                <a:latin typeface="Aptos"/>
              </a:defRPr>
            </a:pPr>
            <a:r>
              <a:t>EPR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4736" y="1901952"/>
            <a:ext cx="3227832" cy="420623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23323D"/>
                </a:solidFill>
                <a:latin typeface="Aptos"/>
              </a:defRPr>
            </a:pPr>
            <a:r>
              <a:t>Fraction of valid injections causing any downstream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2642616"/>
            <a:ext cx="354787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73568" y="2642616"/>
            <a:ext cx="64008" cy="1078992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2788920"/>
            <a:ext cx="322783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Aptos"/>
              </a:defRPr>
            </a:pPr>
            <a:r>
              <a:t>DAF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3191256"/>
            <a:ext cx="3227832" cy="420623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23323D"/>
                </a:solidFill>
                <a:latin typeface="Aptos"/>
              </a:defRPr>
            </a:pPr>
            <a:r>
              <a:t>Affected downstream nodes / reachable downstream nodes.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3931920"/>
            <a:ext cx="354787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73568" y="3931920"/>
            <a:ext cx="64008" cy="1078992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4078224"/>
            <a:ext cx="322783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7A5AF8"/>
                </a:solidFill>
                <a:latin typeface="Aptos"/>
              </a:defRPr>
            </a:pPr>
            <a:r>
              <a:t>Depth + amplification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4480559"/>
            <a:ext cx="3227832" cy="420623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23323D"/>
                </a:solidFill>
                <a:latin typeface="Aptos"/>
              </a:defRPr>
            </a:pPr>
            <a:r>
              <a:t>How far and how broadly the lineage spreads.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285232"/>
            <a:ext cx="3474720" cy="3931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150" b="1">
                <a:solidFill>
                  <a:srgbClr val="0B1F33"/>
                </a:solidFill>
                <a:latin typeface="Aptos"/>
              </a:defRPr>
            </a:pPr>
            <a:r>
              <a:t>Primary evidence: instrumented consumption + lineage + task-relevant error.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Operational fault taxonomy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Category names organize analysis; operator definitions create 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7" name="Picture 6" descr="figure_03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10835640" cy="627301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583680"/>
            <a:ext cx="564184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720" b="0">
                <a:solidFill>
                  <a:srgbClr val="657681"/>
                </a:solidFill>
                <a:latin typeface="Aptos"/>
              </a:defRPr>
            </a:pPr>
            <a:r>
              <a:t>Related to MAST and AgentAsk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Architecture baselines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Primary analysis isolates topology with matched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7" name="Picture 6" descr="figure_04_top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10927080" cy="53042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87552" y="5623560"/>
            <a:ext cx="10222992" cy="493776"/>
          </a:xfrm>
          <a:prstGeom prst="roundRect">
            <a:avLst>
              <a:gd name="adj" fmla="val 8000"/>
            </a:avLst>
          </a:prstGeom>
          <a:solidFill>
            <a:srgbClr val="EAF5F3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751576"/>
            <a:ext cx="9912096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50" b="1">
                <a:solidFill>
                  <a:srgbClr val="1B998B"/>
                </a:solidFill>
                <a:latin typeface="Aptos"/>
              </a:defRPr>
            </a:pPr>
            <a:r>
              <a:t>Same tasks • seed blocks • model family • information • validator • token/tool/timeout caps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Benchmark tasks and ground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Objectively checkable end states are the primary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4173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417320"/>
            <a:ext cx="2057400" cy="621792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91056"/>
            <a:ext cx="1874519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Research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50592"/>
            <a:ext cx="16916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23323D"/>
                </a:solidFill>
                <a:latin typeface="Aptos"/>
              </a:defRPr>
            </a:pPr>
            <a:r>
              <a:t>Closed corpus + fact/evidence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14173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0088" y="1417320"/>
            <a:ext cx="2057400" cy="621792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1591056"/>
            <a:ext cx="1874519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450592"/>
            <a:ext cx="16916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23323D"/>
                </a:solidFill>
                <a:latin typeface="Aptos"/>
              </a:defRPr>
            </a:pPr>
            <a:r>
              <a:t>Reference computation + tolerances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76088" y="14173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76088" y="1417320"/>
            <a:ext cx="2057400" cy="621792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7" y="1591056"/>
            <a:ext cx="1874519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Software debugging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2450592"/>
            <a:ext cx="16916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23323D"/>
                </a:solidFill>
                <a:latin typeface="Aptos"/>
              </a:defRPr>
            </a:pPr>
            <a:r>
              <a:t>Hidden/public executable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14173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62088" y="1417320"/>
            <a:ext cx="2057400" cy="621792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7" y="1591056"/>
            <a:ext cx="1874519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7" y="2450592"/>
            <a:ext cx="16916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23323D"/>
                </a:solidFill>
                <a:latin typeface="Aptos"/>
              </a:defRPr>
            </a:pPr>
            <a:r>
              <a:t>Constraint solver + feasibility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48088" y="14173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48088" y="1417320"/>
            <a:ext cx="2057400" cy="621792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9528" y="1591056"/>
            <a:ext cx="1874519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Stateful tool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7" y="2450592"/>
            <a:ext cx="16916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23323D"/>
                </a:solidFill>
                <a:latin typeface="Aptos"/>
              </a:defRPr>
            </a:pPr>
            <a:r>
              <a:t>Database end-state equivalence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892040"/>
            <a:ext cx="10497312" cy="60350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defRPr sz="1400" b="1">
                <a:solidFill>
                  <a:srgbClr val="D95D5D"/>
                </a:solidFill>
                <a:latin typeface="Aptos"/>
              </a:defRPr>
            </a:pPr>
            <a:r>
              <a:t>LLM-as-a-judge may be a secondary diagnostic; it is not the sole ground truth for the core benchmark.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Multidimensional reliability vector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Report components first; use Pareto trade-offs—not hidden weights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7" name="Picture 6" descr="figure_06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70432"/>
            <a:ext cx="10881360" cy="59579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Core propagation and reliability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Explicit denominators prevent misleading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1B998B"/>
                </a:solidFill>
                <a:latin typeface="Aptos"/>
              </a:defRPr>
            </a:pPr>
            <a:r>
              <a:t>TSR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28800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N successful / N eligible episodes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426463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146C94"/>
                </a:solidFill>
                <a:latin typeface="Aptos"/>
              </a:defRPr>
            </a:pPr>
            <a:r>
              <a:t>passᵏ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28800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Tasks whose k prespecified repeats all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88920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35224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D95D5D"/>
                </a:solidFill>
                <a:latin typeface="Aptos"/>
              </a:defRPr>
            </a:pPr>
            <a:r>
              <a:t>EPR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337560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Episodes with any downstream effect / valid consumed injections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88920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935224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F4A261"/>
                </a:solidFill>
                <a:latin typeface="Aptos"/>
              </a:defRPr>
            </a:pPr>
            <a:r>
              <a:t>DAF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337560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Affected reachable nodes / reachable downstream nodes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97679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297679"/>
            <a:ext cx="64008" cy="1170432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43983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7A5AF8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846319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Correct end state after recovery / valid consumed faults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297679"/>
            <a:ext cx="513892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4297679"/>
            <a:ext cx="64008" cy="1170432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4443983"/>
            <a:ext cx="481888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657681"/>
                </a:solidFill>
                <a:latin typeface="Aptos"/>
              </a:defRPr>
            </a:pPr>
            <a:r>
              <a:t>Attribution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4846319"/>
            <a:ext cx="4818888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Agent exact • step exact • joint • top-k • distance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102870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100" b="0">
                <a:solidFill>
                  <a:srgbClr val="657681"/>
                </a:solidFill>
                <a:latin typeface="Aptos"/>
              </a:defRPr>
            </a:pPr>
            <a:r>
              <a:t>For one serial path: traversal ≈ product of edge probabilities; multi-path independence is not assumed in primary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Attribution is conditioned on available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Same failed episodes, three paired trace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7" name="Picture 6" descr="figure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61288"/>
            <a:ext cx="10908792" cy="57381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583680"/>
            <a:ext cx="564184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720" b="0">
                <a:solidFill>
                  <a:srgbClr val="657681"/>
                </a:solidFill>
                <a:latin typeface="Aptos"/>
              </a:defRPr>
            </a:pPr>
            <a:r>
              <a:t>TraceElephant and AgenTracer motivate explicit evidence conditions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Six-experiment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Every experiment maps to one RQ and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7" name="Picture 6" descr="figure_05_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170432"/>
            <a:ext cx="10863072" cy="52983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Experiments 1–2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Baseline profile and controlled fault 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53312"/>
            <a:ext cx="52578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353312"/>
            <a:ext cx="64008" cy="4069080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493776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1B998B"/>
                </a:solidFill>
                <a:latin typeface="Aptos"/>
              </a:defRPr>
            </a:pPr>
            <a:r>
              <a:t>E1 • Baseline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937760" cy="3410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0">
                <a:solidFill>
                  <a:srgbClr val="23323D"/>
                </a:solidFill>
                <a:latin typeface="Aptos"/>
              </a:defRPr>
            </a:pPr>
            <a:r>
              <a:t>Four architectures × locked tasks × repeated seeds</a:t>
            </a:r>
            <a:br/>
            <a:br/>
            <a:r>
              <a:t>Primary: TSR, pass^k, state consistency</a:t>
            </a:r>
            <a:br/>
            <a:r>
              <a:t>Secondary: constraint success, tokens, tools, latency, cost</a:t>
            </a:r>
            <a:br/>
            <a:br/>
            <a:r>
              <a:t>H6: test preregistered ranking discordance / masked weakness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53312"/>
            <a:ext cx="52578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53312"/>
            <a:ext cx="64008" cy="4069080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99616"/>
            <a:ext cx="493776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D95D5D"/>
                </a:solidFill>
                <a:latin typeface="Aptos"/>
              </a:defRPr>
            </a:pPr>
            <a:r>
              <a:t>E2 • Fault type and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01952"/>
            <a:ext cx="4937760" cy="3410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0">
                <a:solidFill>
                  <a:srgbClr val="23323D"/>
                </a:solidFill>
                <a:latin typeface="Aptos"/>
              </a:defRPr>
            </a:pPr>
            <a:r>
              <a:t>Operator × severity × early/middle/late depth</a:t>
            </a:r>
            <a:br/>
            <a:br/>
            <a:r>
              <a:t>Primary: EPR, DAF, depth, Δ task success</a:t>
            </a:r>
            <a:br/>
            <a:r>
              <a:t>Controls: same task/seed/snapshot; reachable-set size</a:t>
            </a:r>
            <a:br/>
            <a:br/>
            <a:r>
              <a:t>H1: early vs late after normalization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Experiments 3–4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Observability for diagnosis; placement for containment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53312"/>
            <a:ext cx="52578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353312"/>
            <a:ext cx="64008" cy="4069080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493776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7A5AF8"/>
                </a:solidFill>
                <a:latin typeface="Aptos"/>
              </a:defRPr>
            </a:pPr>
            <a:r>
              <a:t>E3 • Attribution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937760" cy="3410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0">
                <a:solidFill>
                  <a:srgbClr val="23323D"/>
                </a:solidFill>
                <a:latin typeface="Aptos"/>
              </a:defRPr>
            </a:pPr>
            <a:r>
              <a:t>Output-only vs partial vs full trace</a:t>
            </a:r>
            <a:br/>
            <a:br/>
            <a:r>
              <a:t>Same failures + same gold origins</a:t>
            </a:r>
            <a:br/>
            <a:r>
              <a:t>Primary: joint agent/step accuracy, localization distance</a:t>
            </a:r>
            <a:br/>
            <a:r>
              <a:t>Secondary: top-k, MRR, abstention, diagnostic cost</a:t>
            </a:r>
            <a:br/>
            <a:br/>
            <a:r>
              <a:t>H2: evidence-view effect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53312"/>
            <a:ext cx="52578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53312"/>
            <a:ext cx="64008" cy="4069080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99616"/>
            <a:ext cx="493776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146C94"/>
                </a:solidFill>
                <a:latin typeface="Aptos"/>
              </a:defRPr>
            </a:pPr>
            <a:r>
              <a:t>E4 •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01952"/>
            <a:ext cx="4937760" cy="3410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0">
                <a:solidFill>
                  <a:srgbClr val="23323D"/>
                </a:solidFill>
                <a:latin typeface="Aptos"/>
              </a:defRPr>
            </a:pPr>
            <a:r>
              <a:t>None vs final-only vs local-before-handoff</a:t>
            </a:r>
            <a:br/>
            <a:br/>
            <a:r>
              <a:t>Primary: EPR, DAF</a:t>
            </a:r>
            <a:br/>
            <a:r>
              <a:t>Secondary: TSR, false accept/reject, tokens, latency</a:t>
            </a:r>
            <a:br/>
            <a:r>
              <a:t>No privileged gold answers</a:t>
            </a:r>
            <a:br/>
            <a:br/>
            <a:r>
              <a:t>H3: local containment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Experiments 5–6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Recovery trade-offs and topology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53312"/>
            <a:ext cx="52578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353312"/>
            <a:ext cx="64008" cy="406908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493776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F4A261"/>
                </a:solidFill>
                <a:latin typeface="Aptos"/>
              </a:defRPr>
            </a:pPr>
            <a:r>
              <a:t>E5 •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937760" cy="3410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50" b="0">
                <a:solidFill>
                  <a:srgbClr val="23323D"/>
                </a:solidFill>
                <a:latin typeface="Aptos"/>
              </a:defRPr>
            </a:pPr>
            <a:r>
              <a:t>None • same-context retry • error signal • rollback • alternate agent • human gate</a:t>
            </a:r>
            <a:br/>
            <a:br/>
            <a:r>
              <a:t>Primary: recovery rate + residual DAF</a:t>
            </a:r>
            <a:br/>
            <a:r>
              <a:t>Secondary: repeated-error similarity + resources</a:t>
            </a:r>
            <a:br/>
            <a:r>
              <a:t>Decision artifact: Pareto frontier</a:t>
            </a:r>
            <a:br/>
            <a:br/>
            <a:r>
              <a:t>H4: recovery gain with added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53312"/>
            <a:ext cx="52578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53312"/>
            <a:ext cx="64008" cy="4069080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99616"/>
            <a:ext cx="493776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1B998B"/>
                </a:solidFill>
                <a:latin typeface="Aptos"/>
              </a:defRPr>
            </a:pPr>
            <a:r>
              <a:t>E6 • Topology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01952"/>
            <a:ext cx="4937760" cy="3410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50" b="0">
                <a:solidFill>
                  <a:srgbClr val="23323D"/>
                </a:solidFill>
                <a:latin typeface="Aptos"/>
              </a:defRPr>
            </a:pPr>
            <a:r>
              <a:t>Single • sequential • parallel • hierarchical</a:t>
            </a:r>
            <a:br/>
            <a:br/>
            <a:r>
              <a:t>Compare worker vs aggregator and leaf vs manager faults</a:t>
            </a:r>
            <a:br/>
            <a:r>
              <a:t>Primary: topology × functional-location interaction</a:t>
            </a:r>
            <a:br/>
            <a:r>
              <a:t>Budget-matched primary; natural-budget secondary</a:t>
            </a:r>
            <a:br/>
            <a:br/>
            <a:r>
              <a:t>H5: location-dependent topology effect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Statistical analysis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Task-level inference, pairing, uncertainty, and effect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10424160" cy="4983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430">
                <a:solidFill>
                  <a:srgbClr val="1B998B"/>
                </a:solidFill>
                <a:latin typeface="Aptos"/>
              </a:rPr>
              <a:t>● </a:t>
            </a:r>
            <a:r>
              <a:rPr b="1" sz="1630">
                <a:solidFill>
                  <a:srgbClr val="23323D"/>
                </a:solidFill>
                <a:latin typeface="Aptos"/>
              </a:rPr>
              <a:t>Unit of inference: </a:t>
            </a:r>
            <a:r>
              <a:rPr sz="1630">
                <a:solidFill>
                  <a:srgbClr val="23323D"/>
                </a:solidFill>
                <a:latin typeface="Aptos"/>
              </a:rPr>
              <a:t>task instance; repeats and faults are nested.</a:t>
            </a:r>
          </a:p>
          <a:p>
            <a:pPr>
              <a:spcAft>
                <a:spcPts val="500"/>
              </a:spcAft>
            </a:pPr>
            <a:r>
              <a:rPr sz="1430">
                <a:solidFill>
                  <a:srgbClr val="1B998B"/>
                </a:solidFill>
                <a:latin typeface="Aptos"/>
              </a:rPr>
              <a:t>● </a:t>
            </a:r>
            <a:r>
              <a:rPr b="1" sz="1630">
                <a:solidFill>
                  <a:srgbClr val="23323D"/>
                </a:solidFill>
                <a:latin typeface="Aptos"/>
              </a:rPr>
              <a:t>Pairing: </a:t>
            </a:r>
            <a:r>
              <a:rPr sz="1630">
                <a:solidFill>
                  <a:srgbClr val="23323D"/>
                </a:solidFill>
                <a:latin typeface="Aptos"/>
              </a:rPr>
              <a:t>same task, seed block, environment, and fault where meaningful.</a:t>
            </a:r>
          </a:p>
          <a:p>
            <a:pPr>
              <a:spcAft>
                <a:spcPts val="500"/>
              </a:spcAft>
            </a:pPr>
            <a:r>
              <a:rPr sz="1430">
                <a:solidFill>
                  <a:srgbClr val="1B998B"/>
                </a:solidFill>
                <a:latin typeface="Aptos"/>
              </a:rPr>
              <a:t>● </a:t>
            </a:r>
            <a:r>
              <a:rPr b="1" sz="1630">
                <a:solidFill>
                  <a:srgbClr val="23323D"/>
                </a:solidFill>
                <a:latin typeface="Aptos"/>
              </a:rPr>
              <a:t>Tests: </a:t>
            </a:r>
            <a:r>
              <a:rPr sz="1630">
                <a:solidFill>
                  <a:srgbClr val="23323D"/>
                </a:solidFill>
                <a:latin typeface="Aptos"/>
              </a:rPr>
              <a:t>exact McNemar; paired permutation/Wilcoxon; mixed models.</a:t>
            </a:r>
          </a:p>
          <a:p>
            <a:pPr>
              <a:spcAft>
                <a:spcPts val="500"/>
              </a:spcAft>
            </a:pPr>
            <a:r>
              <a:rPr sz="1430">
                <a:solidFill>
                  <a:srgbClr val="1B998B"/>
                </a:solidFill>
                <a:latin typeface="Aptos"/>
              </a:rPr>
              <a:t>● </a:t>
            </a:r>
            <a:r>
              <a:rPr b="1" sz="1630">
                <a:solidFill>
                  <a:srgbClr val="23323D"/>
                </a:solidFill>
                <a:latin typeface="Aptos"/>
              </a:rPr>
              <a:t>Uncertainty: </a:t>
            </a:r>
            <a:r>
              <a:rPr sz="1630">
                <a:solidFill>
                  <a:srgbClr val="23323D"/>
                </a:solidFill>
                <a:latin typeface="Aptos"/>
              </a:rPr>
              <a:t>task-clustered 95% confidence intervals.</a:t>
            </a:r>
          </a:p>
          <a:p>
            <a:pPr>
              <a:spcAft>
                <a:spcPts val="500"/>
              </a:spcAft>
            </a:pPr>
            <a:r>
              <a:rPr sz="1430">
                <a:solidFill>
                  <a:srgbClr val="1B998B"/>
                </a:solidFill>
                <a:latin typeface="Aptos"/>
              </a:rPr>
              <a:t>● </a:t>
            </a:r>
            <a:r>
              <a:rPr b="1" sz="1630">
                <a:solidFill>
                  <a:srgbClr val="23323D"/>
                </a:solidFill>
                <a:latin typeface="Aptos"/>
              </a:rPr>
              <a:t>Multiplicity: </a:t>
            </a:r>
            <a:r>
              <a:rPr sz="1630">
                <a:solidFill>
                  <a:srgbClr val="23323D"/>
                </a:solidFill>
                <a:latin typeface="Aptos"/>
              </a:rPr>
              <a:t>Holm correction within each RQ family.</a:t>
            </a:r>
          </a:p>
          <a:p>
            <a:pPr>
              <a:spcAft>
                <a:spcPts val="500"/>
              </a:spcAft>
            </a:pPr>
            <a:r>
              <a:rPr sz="1430">
                <a:solidFill>
                  <a:srgbClr val="1B998B"/>
                </a:solidFill>
                <a:latin typeface="Aptos"/>
              </a:rPr>
              <a:t>● </a:t>
            </a:r>
            <a:r>
              <a:rPr b="1" sz="1630">
                <a:solidFill>
                  <a:srgbClr val="23323D"/>
                </a:solidFill>
                <a:latin typeface="Aptos"/>
              </a:rPr>
              <a:t>Magnitude: </a:t>
            </a:r>
            <a:r>
              <a:rPr sz="1630">
                <a:solidFill>
                  <a:srgbClr val="23323D"/>
                </a:solidFill>
                <a:latin typeface="Aptos"/>
              </a:rPr>
              <a:t>risk difference, matched odds ratio, median shift, Cliff’s delta.</a:t>
            </a:r>
          </a:p>
          <a:p>
            <a:pPr>
              <a:spcAft>
                <a:spcPts val="500"/>
              </a:spcAft>
            </a:pPr>
            <a:r>
              <a:rPr sz="1430">
                <a:solidFill>
                  <a:srgbClr val="1B998B"/>
                </a:solidFill>
                <a:latin typeface="Aptos"/>
              </a:rPr>
              <a:t>● </a:t>
            </a:r>
            <a:r>
              <a:rPr b="1" sz="1630">
                <a:solidFill>
                  <a:srgbClr val="23323D"/>
                </a:solidFill>
                <a:latin typeface="Aptos"/>
              </a:rPr>
              <a:t>Power: </a:t>
            </a:r>
            <a:r>
              <a:rPr sz="1630">
                <a:solidFill>
                  <a:srgbClr val="23323D"/>
                </a:solidFill>
                <a:latin typeface="Aptos"/>
              </a:rPr>
              <a:t>pilot simulation; 100 paired IDs is a floor, not a guarantee.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Results section is intentionally locked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No values are shown because no executions were supplied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35024"/>
            <a:ext cx="10698480" cy="3913632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664208"/>
            <a:ext cx="1572768" cy="475488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1481328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9191" y="1664208"/>
            <a:ext cx="1572768" cy="475488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1" y="1801368"/>
            <a:ext cx="1481328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TSR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664208"/>
            <a:ext cx="1572768" cy="475488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3" y="1801368"/>
            <a:ext cx="1481328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passᵏ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664208"/>
            <a:ext cx="1572768" cy="475488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1801368"/>
            <a:ext cx="1481328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36408" y="1664208"/>
            <a:ext cx="1572768" cy="475488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1801368"/>
            <a:ext cx="1481328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Attribution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1664208"/>
            <a:ext cx="1572768" cy="475488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801368"/>
            <a:ext cx="1481328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240280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368296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1">
                <a:solidFill>
                  <a:srgbClr val="23323D"/>
                </a:solidFill>
                <a:latin typeface="Aptos"/>
              </a:defRPr>
            </a:pPr>
            <a:r>
              <a:t>Single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9191" y="2240280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4911" y="2368296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8264" y="2240280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3" y="2368296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336" y="2240280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2368296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6408" y="2240280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8" y="2368296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5480" y="2240280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368296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2807208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2935224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1">
                <a:solidFill>
                  <a:srgbClr val="23323D"/>
                </a:solidFill>
                <a:latin typeface="Aptos"/>
              </a:defRPr>
            </a:pPr>
            <a:r>
              <a:t>Sequential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79191" y="2807208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24911" y="2935224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98264" y="2807208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935224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17336" y="2807208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3055" y="2935224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6408" y="2807208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82128" y="2935224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55480" y="2807208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2935224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3374136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02152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1">
                <a:solidFill>
                  <a:srgbClr val="23323D"/>
                </a:solidFill>
                <a:latin typeface="Aptos"/>
              </a:defRPr>
            </a:pPr>
            <a:r>
              <a:t>Parallel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79191" y="3374136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24911" y="3502152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98264" y="3374136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43983" y="3502152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17336" y="3374136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3055" y="3502152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36408" y="3374136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82128" y="3502152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5480" y="3374136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3502152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" y="3941064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" y="4069080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1">
                <a:solidFill>
                  <a:srgbClr val="23323D"/>
                </a:solidFill>
                <a:latin typeface="Aptos"/>
              </a:defRPr>
            </a:pPr>
            <a:r>
              <a:t>Hierarchy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79191" y="3941064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24911" y="4069080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98264" y="3941064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43983" y="4069080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17336" y="3941064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63055" y="4069080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36408" y="3941064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82128" y="4069080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55480" y="3941064"/>
            <a:ext cx="1572768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01200" y="4069080"/>
            <a:ext cx="1481328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00" b="0">
                <a:solidFill>
                  <a:srgbClr val="2332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" y="5440680"/>
            <a:ext cx="10314432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400" b="1">
                <a:solidFill>
                  <a:srgbClr val="D95D5D"/>
                </a:solidFill>
                <a:latin typeface="Aptos"/>
              </a:defRPr>
            </a:pPr>
            <a:r>
              <a:t>Populate only from signed manifests and frozen analysis outputs. Rewrite the abstract, discussion, and conclusion after validation.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400032" y="6144768"/>
            <a:ext cx="2176272" cy="310896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73184" y="6190488"/>
            <a:ext cx="2029968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830" b="1">
                <a:solidFill>
                  <a:srgbClr val="D95D5D"/>
                </a:solidFill>
                <a:latin typeface="Aptos"/>
              </a:defRPr>
            </a:pPr>
            <a:r>
              <a:t>NO EMPIRICAL RESULT YET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Reproducibility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Every run must be reconstructable—or its limits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53312"/>
            <a:ext cx="33649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353312"/>
            <a:ext cx="64008" cy="1600200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30449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1B998B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3044952" cy="9418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80" b="0">
                <a:solidFill>
                  <a:srgbClr val="23323D"/>
                </a:solidFill>
                <a:latin typeface="Aptos"/>
              </a:defRPr>
            </a:pPr>
            <a:r>
              <a:t>model/version • prompts • topology • budgets • seeds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353312"/>
            <a:ext cx="33649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353312"/>
            <a:ext cx="64008" cy="1600200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499616"/>
            <a:ext cx="30449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146C94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01952"/>
            <a:ext cx="3044952" cy="9418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80" b="0">
                <a:solidFill>
                  <a:srgbClr val="23323D"/>
                </a:solidFill>
                <a:latin typeface="Aptos"/>
              </a:defRPr>
            </a:pPr>
            <a:r>
              <a:t>snapshot • tools • container • region • hardware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353312"/>
            <a:ext cx="33649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1" y="1353312"/>
            <a:ext cx="64008" cy="1600200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99616"/>
            <a:ext cx="30449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D95D5D"/>
                </a:solidFill>
                <a:latin typeface="Aptos"/>
              </a:defRPr>
            </a:pPr>
            <a:r>
              <a:t>Intervention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01952"/>
            <a:ext cx="3044952" cy="9418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80" b="0">
                <a:solidFill>
                  <a:srgbClr val="23323D"/>
                </a:solidFill>
                <a:latin typeface="Aptos"/>
              </a:defRPr>
            </a:pPr>
            <a:r>
              <a:t>operator • target • dose • patch • applied/consumed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328416"/>
            <a:ext cx="33649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3328416"/>
            <a:ext cx="64008" cy="1600200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74720"/>
            <a:ext cx="30449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7A5AF8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3044952" cy="9418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80" b="0">
                <a:solidFill>
                  <a:srgbClr val="23323D"/>
                </a:solidFill>
                <a:latin typeface="Aptos"/>
              </a:defRPr>
            </a:pPr>
            <a:r>
              <a:t>trace • state deltas • graph • validators • hashes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2272" y="3328416"/>
            <a:ext cx="33649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62272" y="3328416"/>
            <a:ext cx="64008" cy="16002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474720"/>
            <a:ext cx="30449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F4A261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877056"/>
            <a:ext cx="3044952" cy="9418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80" b="0">
                <a:solidFill>
                  <a:srgbClr val="23323D"/>
                </a:solidFill>
                <a:latin typeface="Aptos"/>
              </a:defRPr>
            </a:pPr>
            <a:r>
              <a:t>tokens • calls • latency • cost • pricing 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1" y="3328416"/>
            <a:ext cx="33649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11311" y="3328416"/>
            <a:ext cx="64008" cy="1600200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30449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657681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77056"/>
            <a:ext cx="3044952" cy="9418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80" b="0">
                <a:solidFill>
                  <a:srgbClr val="23323D"/>
                </a:solidFill>
                <a:latin typeface="Aptos"/>
              </a:defRPr>
            </a:pPr>
            <a:r>
              <a:t>manifest • lockfile • code hash • CIs • deviations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Limitations and threats to validity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The protocol reduces uncertainty; it does not remove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261872"/>
            <a:ext cx="51206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261872"/>
            <a:ext cx="64008" cy="1170432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408175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D95D5D"/>
                </a:solidFill>
                <a:latin typeface="Aptos"/>
              </a:defRPr>
            </a:pPr>
            <a:r>
              <a:t>Fault realism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10512"/>
            <a:ext cx="4800600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Injected faults may not match natural failure distributions.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261872"/>
            <a:ext cx="51206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2784" y="1261872"/>
            <a:ext cx="64008" cy="1170432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08175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1B998B"/>
                </a:solidFill>
                <a:latin typeface="Aptos"/>
              </a:defRPr>
            </a:pPr>
            <a:r>
              <a:t>Graph completeness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10512"/>
            <a:ext cx="4800600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Latent dependencies and semantic edges remain uncertain.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70632"/>
            <a:ext cx="51206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2770632"/>
            <a:ext cx="64008" cy="1170432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916936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7A5AF8"/>
                </a:solidFill>
                <a:latin typeface="Aptos"/>
              </a:defRPr>
            </a:pPr>
            <a:r>
              <a:t>Counterfactual replay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319272"/>
            <a:ext cx="4800600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Stochastic trajectories can change after a repair.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770632"/>
            <a:ext cx="51206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2784" y="2770632"/>
            <a:ext cx="64008" cy="1170432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916936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Aptos"/>
              </a:defRPr>
            </a:pPr>
            <a:r>
              <a:t>Provider 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319272"/>
            <a:ext cx="4800600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Hosted models, policies, load, and prices can change.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279392"/>
            <a:ext cx="51206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4279392"/>
            <a:ext cx="64008" cy="1170432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425696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146C94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828031"/>
            <a:ext cx="4800600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Privacy and proprietary constraints may limit traces.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4279392"/>
            <a:ext cx="51206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72784" y="4279392"/>
            <a:ext cx="64008" cy="1170432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425696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1">
                <a:solidFill>
                  <a:srgbClr val="657681"/>
                </a:solidFill>
                <a:latin typeface="Aptos"/>
              </a:defRPr>
            </a:pPr>
            <a:r>
              <a:t>Generalization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828031"/>
            <a:ext cx="4800600" cy="51206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23323D"/>
                </a:solidFill>
                <a:latin typeface="Aptos"/>
              </a:defRPr>
            </a:pPr>
            <a:r>
              <a:t>Selected tasks/topologies cannot represent every deployment.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What is defensible today—and what remains to be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44168"/>
            <a:ext cx="516636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344168"/>
            <a:ext cx="64008" cy="3401568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490472"/>
            <a:ext cx="48463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1B998B"/>
                </a:solidFill>
                <a:latin typeface="Aptos"/>
              </a:defRPr>
            </a:pPr>
            <a:r>
              <a:t>Defensible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92807"/>
            <a:ext cx="4846320" cy="2743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0">
                <a:solidFill>
                  <a:srgbClr val="23323D"/>
                </a:solidFill>
                <a:latin typeface="Aptos"/>
              </a:defRPr>
            </a:pPr>
            <a:r>
              <a:t>MAS-RELIAB is a complete, auditable, results-ready protocol connecting reliability, verified faults, propagation, attribution, mitigation, topology, and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344168"/>
            <a:ext cx="516636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54496" y="1344168"/>
            <a:ext cx="64008" cy="3401568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490472"/>
            <a:ext cx="48463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D95D5D"/>
                </a:solidFill>
                <a:latin typeface="Aptos"/>
              </a:defRPr>
            </a:pPr>
            <a:r>
              <a:t>Not yet defensible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892807"/>
            <a:ext cx="4846320" cy="2743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0">
                <a:solidFill>
                  <a:srgbClr val="23323D"/>
                </a:solidFill>
                <a:latin typeface="Aptos"/>
              </a:defRPr>
            </a:pPr>
            <a:r>
              <a:t>No claim that H1–H6 are supported; no superiority claim; no priority claim for graph-based cascades or mitigation.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56632"/>
            <a:ext cx="10643616" cy="694944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257800"/>
            <a:ext cx="10085832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Next step: pilot → preregistration lock → interleaved execution → validation → populated paper.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6144768"/>
            <a:ext cx="2176272" cy="310896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3184" y="6190488"/>
            <a:ext cx="2029968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830" b="1">
                <a:solidFill>
                  <a:srgbClr val="D95D5D"/>
                </a:solidFill>
                <a:latin typeface="Aptos"/>
              </a:defRPr>
            </a:pPr>
            <a:r>
              <a:t>NO EMPIRICAL RESULT YET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53312"/>
            <a:ext cx="9994392" cy="7498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3700" b="1">
                <a:solidFill>
                  <a:srgbClr val="FFFFFF"/>
                </a:solidFill>
                <a:latin typeface="Aptos"/>
              </a:defRPr>
            </a:pPr>
            <a: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59152"/>
            <a:ext cx="9811512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2300" b="1">
                <a:solidFill>
                  <a:srgbClr val="1B998B"/>
                </a:solidFill>
                <a:latin typeface="Aptos"/>
              </a:defRPr>
            </a:pPr>
            <a:r>
              <a:t>MAS-RELIAB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3218688"/>
            <a:ext cx="8412480" cy="9875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700" b="0">
                <a:solidFill>
                  <a:srgbClr val="DCE5EA"/>
                </a:solidFill>
                <a:latin typeface="Aptos"/>
              </a:defRPr>
            </a:pPr>
            <a:r>
              <a:t>A unified experimental methodology for failure propagation, attribution, mitigation, topology, and reliability–cost trade-offs.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4709160"/>
            <a:ext cx="4005072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Dev Parth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Appendix • Metric definitions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Quick reference for examiner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188720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188720"/>
            <a:ext cx="64008" cy="932688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35024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1B998B"/>
                </a:solidFill>
                <a:latin typeface="Aptos"/>
              </a:defRPr>
            </a:pPr>
            <a:r>
              <a:t>TSR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eligible successes / eligible episodes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1188720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9704" y="1188720"/>
            <a:ext cx="64008" cy="932688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335024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146C94"/>
                </a:solidFill>
                <a:latin typeface="Aptos"/>
              </a:defRPr>
            </a:pPr>
            <a:r>
              <a:t>passᵏ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737360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all k repeats pass for a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1188720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11896" y="1188720"/>
            <a:ext cx="64008" cy="932688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1335024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7A5AF8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1737360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pairwise end-state equivalence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2359152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" y="2359152"/>
            <a:ext cx="64008" cy="932688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505456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D95D5D"/>
                </a:solidFill>
                <a:latin typeface="Aptos"/>
              </a:defRPr>
            </a:pPr>
            <a:r>
              <a:t>Δfault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907792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TSR clean − TSR fault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9704" y="2359152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9704" y="2359152"/>
            <a:ext cx="64008" cy="932688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505456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Aptos"/>
              </a:defRPr>
            </a:pPr>
            <a:r>
              <a:t>EPR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2907792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any downstream effect / valid injections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11896" y="2359152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11896" y="2359152"/>
            <a:ext cx="64008" cy="932688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3064" y="2505456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657681"/>
                </a:solidFill>
                <a:latin typeface="Aptos"/>
              </a:defRPr>
            </a:pPr>
            <a:r>
              <a:t>DAF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4" y="2907792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affected / reachable downstream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" y="3529584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7512" y="3529584"/>
            <a:ext cx="64008" cy="932688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675888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1B998B"/>
                </a:solidFill>
                <a:latin typeface="Aptos"/>
              </a:defRPr>
            </a:pPr>
            <a:r>
              <a:t>AF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078224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affected / initially corrupted nodes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9704" y="3529584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89704" y="3529584"/>
            <a:ext cx="64008" cy="932688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3675888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146C94"/>
                </a:solidFill>
                <a:latin typeface="Aptos"/>
              </a:defRPr>
            </a:pPr>
            <a:r>
              <a:t>Depth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4078224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max shortest-path distance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3529584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11896" y="3529584"/>
            <a:ext cx="64008" cy="932688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13064" y="3675888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7A5AF8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3064" y="4078224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correct after recovery / consumed faults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" y="4700016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67512" y="4700016"/>
            <a:ext cx="64008" cy="932688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4846320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D95D5D"/>
                </a:solidFill>
                <a:latin typeface="Aptos"/>
              </a:defRPr>
            </a:pPr>
            <a:r>
              <a:t>Attribution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248655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agent + step exact/top-k/distance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89704" y="4700016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489704" y="4700016"/>
            <a:ext cx="64008" cy="932688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90872" y="4846320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Aptos"/>
              </a:defRPr>
            </a:pPr>
            <a:r>
              <a:t>FCS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0872" y="5248655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1 − DAF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11896" y="4700016"/>
            <a:ext cx="34564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311896" y="4700016"/>
            <a:ext cx="64008" cy="932688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13064" y="4846320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657681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13064" y="5248655"/>
            <a:ext cx="3136391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0">
                <a:solidFill>
                  <a:srgbClr val="23323D"/>
                </a:solidFill>
                <a:latin typeface="Aptos"/>
              </a:defRPr>
            </a:pPr>
            <a:r>
              <a:t>tokens, calls, latency, storage, cost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Appendix • Hypothesis decision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Primary metrics and contrasts are frozen before unblinding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640080" cy="384048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585215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252728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1">
                <a:solidFill>
                  <a:srgbClr val="0B1F33"/>
                </a:solidFill>
                <a:latin typeface="Aptos"/>
              </a:defRPr>
            </a:pPr>
            <a:r>
              <a:t>DAF +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252728"/>
            <a:ext cx="6236208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23323D"/>
                </a:solidFill>
                <a:latin typeface="Aptos"/>
              </a:defRPr>
            </a:pPr>
            <a:r>
              <a:t>early vs 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28216"/>
            <a:ext cx="10716768" cy="18288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993392"/>
            <a:ext cx="640080" cy="384048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48256"/>
            <a:ext cx="585215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011680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1">
                <a:solidFill>
                  <a:srgbClr val="0B1F33"/>
                </a:solidFill>
                <a:latin typeface="Aptos"/>
              </a:defRPr>
            </a:pPr>
            <a:r>
              <a:t>joint 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11680"/>
            <a:ext cx="6236208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23323D"/>
                </a:solidFill>
                <a:latin typeface="Aptos"/>
              </a:defRPr>
            </a:pPr>
            <a:r>
              <a:t>full vs partial/output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87168"/>
            <a:ext cx="10716768" cy="18288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752344"/>
            <a:ext cx="640080" cy="384048"/>
          </a:xfrm>
          <a:prstGeom prst="roundRect">
            <a:avLst>
              <a:gd name="adj" fmla="val 8000"/>
            </a:avLst>
          </a:prstGeom>
          <a:solidFill>
            <a:srgbClr val="146C94"/>
          </a:solidFill>
          <a:ln>
            <a:solidFill>
              <a:srgbClr val="146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807208"/>
            <a:ext cx="585215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70632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1">
                <a:solidFill>
                  <a:srgbClr val="0B1F33"/>
                </a:solidFill>
                <a:latin typeface="Aptos"/>
              </a:defRPr>
            </a:pPr>
            <a:r>
              <a:t>EPR + DAF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770632"/>
            <a:ext cx="6236208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23323D"/>
                </a:solidFill>
                <a:latin typeface="Aptos"/>
              </a:defRPr>
            </a:pPr>
            <a:r>
              <a:t>local vs final/none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10716768" cy="18288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511296"/>
            <a:ext cx="640080" cy="384048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566160"/>
            <a:ext cx="585215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H4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529584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1">
                <a:solidFill>
                  <a:srgbClr val="0B1F33"/>
                </a:solidFill>
                <a:latin typeface="Aptos"/>
              </a:defRPr>
            </a:pPr>
            <a:r>
              <a:t>recovery +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529584"/>
            <a:ext cx="6236208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23323D"/>
                </a:solidFill>
                <a:latin typeface="Aptos"/>
              </a:defRPr>
            </a:pPr>
            <a:r>
              <a:t>rollback/alternate vs retry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005072"/>
            <a:ext cx="10716768" cy="18288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270248"/>
            <a:ext cx="640080" cy="384048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4325112"/>
            <a:ext cx="585215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H5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288536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1">
                <a:solidFill>
                  <a:srgbClr val="0B1F33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288536"/>
            <a:ext cx="6236208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23323D"/>
                </a:solidFill>
                <a:latin typeface="Aptos"/>
              </a:defRPr>
            </a:pPr>
            <a:r>
              <a:t>topology × location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764024"/>
            <a:ext cx="10716768" cy="18288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" y="5029200"/>
            <a:ext cx="640080" cy="384048"/>
          </a:xfrm>
          <a:prstGeom prst="roundRect">
            <a:avLst>
              <a:gd name="adj" fmla="val 8000"/>
            </a:avLst>
          </a:prstGeom>
          <a:solidFill>
            <a:srgbClr val="657681"/>
          </a:solidFill>
          <a:ln>
            <a:solidFill>
              <a:srgbClr val="65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5084064"/>
            <a:ext cx="585215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H6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47488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1">
                <a:solidFill>
                  <a:srgbClr val="0B1F33"/>
                </a:solidFill>
                <a:latin typeface="Aptos"/>
              </a:defRPr>
            </a:pPr>
            <a:r>
              <a:t>rank discordance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5047488"/>
            <a:ext cx="6236208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23323D"/>
                </a:solidFill>
                <a:latin typeface="Aptos"/>
              </a:defRPr>
            </a:pPr>
            <a:r>
              <a:t>TSR vs reliability profile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522976"/>
            <a:ext cx="10716768" cy="18288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Aptos"/>
              </a:defRPr>
            </a:pPr>
            <a:r>
              <a:t>Appendix • Three high-risk viva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32104"/>
            <a:ext cx="960120" cy="50292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50" b="0">
                <a:solidFill>
                  <a:srgbClr val="657681"/>
                </a:solidFill>
                <a:latin typeface="Aptos"/>
              </a:defRPr>
            </a:pPr>
            <a:r>
              <a:t>Concise answers to protect the scientific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310896"/>
            <a:ext cx="320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0">
                <a:solidFill>
                  <a:srgbClr val="657681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56432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64008" cy="4160520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1">
                <a:solidFill>
                  <a:srgbClr val="D95D5D"/>
                </a:solidFill>
                <a:latin typeface="Aptos"/>
              </a:defRPr>
            </a:pPr>
            <a:r>
              <a:t>“Is this novel?”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28800"/>
            <a:ext cx="3136391" cy="35021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0">
                <a:solidFill>
                  <a:srgbClr val="23323D"/>
                </a:solidFill>
                <a:latin typeface="Aptos"/>
              </a:defRPr>
            </a:pPr>
            <a:r>
              <a:t>Not as a claim for graph cascades, attribution, fault injection, or mitigation individually. The contribution is the paired integration of reliability, propagation, evidence-conditioned attribution, verification/recovery, topology, and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80160"/>
            <a:ext cx="3456432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280160"/>
            <a:ext cx="64008" cy="4160520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26463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1">
                <a:solidFill>
                  <a:srgbClr val="1B998B"/>
                </a:solidFill>
                <a:latin typeface="Aptos"/>
              </a:defRPr>
            </a:pPr>
            <a:r>
              <a:t>“Where are the results?”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136391" cy="35021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0">
                <a:solidFill>
                  <a:srgbClr val="23323D"/>
                </a:solidFill>
                <a:latin typeface="Aptos"/>
              </a:defRPr>
            </a:pPr>
            <a:r>
              <a:t>No experimental artifacts were supplied. I use a locked shell with em dashes rather than fabricate findings. This is a complete pre-experimental protocol; empirical completion follows execution and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280160"/>
            <a:ext cx="3456432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280160"/>
            <a:ext cx="64008" cy="4160520"/>
          </a:xfrm>
          <a:prstGeom prst="roundRect">
            <a:avLst>
              <a:gd name="adj" fmla="val 8000"/>
            </a:avLst>
          </a:prstGeom>
          <a:solidFill>
            <a:srgbClr val="7A5AF8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426463"/>
            <a:ext cx="3136391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600" b="1">
                <a:solidFill>
                  <a:srgbClr val="7A5AF8"/>
                </a:solidFill>
                <a:latin typeface="Aptos"/>
              </a:defRPr>
            </a:pPr>
            <a:r>
              <a:t>“What if H1–H6 fail?”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28800"/>
            <a:ext cx="3136391" cy="35021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400" b="0">
                <a:solidFill>
                  <a:srgbClr val="23323D"/>
                </a:solidFill>
                <a:latin typeface="Aptos"/>
              </a:defRPr>
            </a:pPr>
            <a:r>
              <a:t>I report the observed direction, confidence interval, effect size, and uncertainty. Unsupported hypotheses are rejected or left inconclusive. The discussion and conclusion are rewritten accordingly.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537960"/>
            <a:ext cx="11018520" cy="10972"/>
          </a:xfrm>
          <a:prstGeom prst="rect">
            <a:avLst/>
          </a:prstGeom>
          <a:solidFill>
            <a:srgbClr val="DCE5EA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6583680"/>
            <a:ext cx="557784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750" b="0">
                <a:solidFill>
                  <a:srgbClr val="657681"/>
                </a:solidFill>
                <a:latin typeface="Aptos"/>
              </a:defRPr>
            </a:pPr>
            <a:r>
              <a:t>MAS-RELIAB  •  Dev Parth  •  Viva Defence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0032" y="6144768"/>
            <a:ext cx="2176272" cy="310896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4" y="6190488"/>
            <a:ext cx="2029968" cy="173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830" b="1">
                <a:solidFill>
                  <a:srgbClr val="D95D5D"/>
                </a:solidFill>
                <a:latin typeface="Aptos"/>
              </a:defRPr>
            </a:pPr>
            <a:r>
              <a:t>NO EMPIRICAL RESULT YET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