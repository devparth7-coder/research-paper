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0312" cy="685800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914400"/>
            <a:ext cx="10607040" cy="5943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MAS-RELIAB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572768"/>
            <a:ext cx="10515600" cy="4114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2200" b="1">
                <a:solidFill>
                  <a:srgbClr val="087E8B"/>
                </a:solidFill>
                <a:latin typeface="Aptos"/>
              </a:rPr>
              <a:t>Measured offline simulation pilot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157984"/>
            <a:ext cx="10241280" cy="5943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Aptos"/>
              </a:rPr>
              <a:t>Failure propagation · attribution · mitigation · reliability–cost trade-offs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4069080"/>
            <a:ext cx="457200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Dev Parth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4498848"/>
            <a:ext cx="4572000" cy="2743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200" b="0">
                <a:solidFill>
                  <a:srgbClr val="BECDD7"/>
                </a:solidFill>
                <a:latin typeface="Aptos"/>
              </a:rPr>
              <a:t>16 August 2026 · v0.2.0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5257800"/>
            <a:ext cx="9966960" cy="566928"/>
          </a:xfrm>
          <a:prstGeom prst="roundRect">
            <a:avLst/>
          </a:prstGeom>
          <a:solidFill>
            <a:srgbClr val="B23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5404104"/>
            <a:ext cx="9646920" cy="24688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Synthetic-agent evidence — not LLM or deployment evidence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064240" cy="4572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2600" b="1">
                <a:solidFill>
                  <a:srgbClr val="17324D"/>
                </a:solidFill>
                <a:latin typeface="Aptos"/>
              </a:rPr>
              <a:t>Evidence boundary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86384"/>
            <a:ext cx="10881360" cy="2743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66573"/>
                </a:solidFill>
                <a:latin typeface="Aptos"/>
              </a:rPr>
              <a:t>The most important interpretation rule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9672"/>
            <a:ext cx="11155680" cy="18288"/>
          </a:xfrm>
          <a:prstGeom prst="rect">
            <a:avLst/>
          </a:prstGeom>
          <a:solidFill>
            <a:srgbClr val="EA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65392"/>
            <a:ext cx="6400800" cy="16459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66573"/>
                </a:solidFill>
                <a:latin typeface="Aptos"/>
              </a:rPr>
              <a:t>MAS-RELIAB · Dev Parth · Offline simulation pilot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1148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66573"/>
                </a:solidFill>
                <a:latin typeface="Aptos"/>
              </a:rP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25880"/>
            <a:ext cx="2286000" cy="960120"/>
          </a:xfrm>
          <a:prstGeom prst="roundRect">
            <a:avLst/>
          </a:prstGeom>
          <a:solidFill>
            <a:srgbClr val="EA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1" y="1408176"/>
            <a:ext cx="2139696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2500" b="1">
                <a:solidFill>
                  <a:srgbClr val="B23A48"/>
                </a:solidFill>
                <a:latin typeface="Aptos"/>
              </a:rP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1" y="1856231"/>
            <a:ext cx="2139696" cy="25603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1000" b="0">
                <a:solidFill>
                  <a:srgbClr val="566573"/>
                </a:solidFill>
                <a:latin typeface="Aptos"/>
              </a:rPr>
              <a:t>LLM/API calls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54680" y="1325880"/>
            <a:ext cx="2286000" cy="960120"/>
          </a:xfrm>
          <a:prstGeom prst="roundRect">
            <a:avLst/>
          </a:prstGeom>
          <a:solidFill>
            <a:srgbClr val="EA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27832" y="1408176"/>
            <a:ext cx="2139696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2500" b="1">
                <a:solidFill>
                  <a:srgbClr val="087E8B"/>
                </a:solidFill>
                <a:latin typeface="Aptos"/>
              </a:rPr>
              <a:t>150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27832" y="1856231"/>
            <a:ext cx="2139696" cy="25603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1000" b="0">
                <a:solidFill>
                  <a:srgbClr val="566573"/>
                </a:solidFill>
                <a:latin typeface="Aptos"/>
              </a:rPr>
              <a:t>generated tasks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0" y="1325880"/>
            <a:ext cx="2286000" cy="960120"/>
          </a:xfrm>
          <a:prstGeom prst="roundRect">
            <a:avLst/>
          </a:prstGeom>
          <a:solidFill>
            <a:srgbClr val="EA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42432" y="1408176"/>
            <a:ext cx="2139696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2500" b="1">
                <a:solidFill>
                  <a:srgbClr val="087E8B"/>
                </a:solidFill>
                <a:latin typeface="Aptos"/>
              </a:rPr>
              <a:t>16,560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42432" y="1856231"/>
            <a:ext cx="2139696" cy="25603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1000" b="0">
                <a:solidFill>
                  <a:srgbClr val="566573"/>
                </a:solidFill>
                <a:latin typeface="Aptos"/>
              </a:rPr>
              <a:t>episodes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83879" y="1325880"/>
            <a:ext cx="2286000" cy="960120"/>
          </a:xfrm>
          <a:prstGeom prst="roundRect">
            <a:avLst/>
          </a:prstGeom>
          <a:solidFill>
            <a:srgbClr val="EA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57031" y="1408176"/>
            <a:ext cx="2139696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2500" b="1">
                <a:solidFill>
                  <a:srgbClr val="087E8B"/>
                </a:solidFill>
                <a:latin typeface="Aptos"/>
              </a:rPr>
              <a:t>82,800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57031" y="1856231"/>
            <a:ext cx="2139696" cy="25603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1000" b="0">
                <a:solidFill>
                  <a:srgbClr val="566573"/>
                </a:solidFill>
                <a:latin typeface="Aptos"/>
              </a:rPr>
              <a:t>trace events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2788920"/>
            <a:ext cx="10515600" cy="2468880"/>
          </a:xfrm>
          <a:prstGeom prst="rect">
            <a:avLst/>
          </a:prstGeom>
          <a:noFill/>
        </p:spPr>
        <p:txBody>
          <a:bodyPr wrap="square" rIns="54864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17324D"/>
                </a:solidFill>
                <a:latin typeface="Aptos"/>
              </a:defRPr>
            </a:pPr>
            <a:r>
              <a:t>• Validates implementation, causal bookkeeping, and configured simulator mechanisms.</a:t>
            </a:r>
          </a:p>
          <a:p>
            <a:pPr>
              <a:spcAft>
                <a:spcPts val="900"/>
              </a:spcAft>
              <a:defRPr sz="1900">
                <a:solidFill>
                  <a:srgbClr val="17324D"/>
                </a:solidFill>
                <a:latin typeface="Aptos"/>
              </a:defRPr>
            </a:pPr>
            <a:r>
              <a:t>• Does not establish real-agent reliability, safety, or topology superiority.</a:t>
            </a:r>
          </a:p>
          <a:p>
            <a:pPr>
              <a:spcAft>
                <a:spcPts val="900"/>
              </a:spcAft>
              <a:defRPr sz="1900">
                <a:solidFill>
                  <a:srgbClr val="17324D"/>
                </a:solidFill>
                <a:latin typeface="Aptos"/>
              </a:defRPr>
            </a:pPr>
            <a:r>
              <a:t>• All cost and latency values are simulated; tokens are not applicable.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064240" cy="4572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2600" b="1">
                <a:solidFill>
                  <a:srgbClr val="17324D"/>
                </a:solidFill>
                <a:latin typeface="Aptos"/>
              </a:rPr>
              <a:t>Problem: success alone is diagnostically weak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519672"/>
            <a:ext cx="11155680" cy="18288"/>
          </a:xfrm>
          <a:prstGeom prst="rect">
            <a:avLst/>
          </a:prstGeom>
          <a:solidFill>
            <a:srgbClr val="EA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6565392"/>
            <a:ext cx="6400800" cy="16459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66573"/>
                </a:solidFill>
                <a:latin typeface="Aptos"/>
              </a:rPr>
              <a:t>MAS-RELIAB · Dev Parth · Offline simulation pilot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47104"/>
            <a:ext cx="41148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66573"/>
                </a:solidFill>
                <a:latin typeface="Aptos"/>
              </a:rPr>
              <a:t>3</a:t>
            </a:r>
          </a:p>
        </p:txBody>
      </p:sp>
      <p:pic>
        <p:nvPicPr>
          <p:cNvPr id="7" name="Picture 6" descr="figure_02_gra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188720"/>
            <a:ext cx="5669280" cy="270863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46520" y="1325880"/>
            <a:ext cx="4983480" cy="4389120"/>
          </a:xfrm>
          <a:prstGeom prst="rect">
            <a:avLst/>
          </a:prstGeom>
          <a:noFill/>
        </p:spPr>
        <p:txBody>
          <a:bodyPr wrap="square" rIns="54864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17324D"/>
                </a:solidFill>
                <a:latin typeface="Aptos"/>
              </a:defRPr>
            </a:pPr>
            <a:r>
              <a:t>• Was an injected fault applied and consumed?</a:t>
            </a:r>
          </a:p>
          <a:p>
            <a:pPr>
              <a:spcAft>
                <a:spcPts val="900"/>
              </a:spcAft>
              <a:defRPr sz="1800">
                <a:solidFill>
                  <a:srgbClr val="17324D"/>
                </a:solidFill>
                <a:latin typeface="Aptos"/>
              </a:defRPr>
            </a:pPr>
            <a:r>
              <a:t>• Where did it originate and how far did it spread?</a:t>
            </a:r>
          </a:p>
          <a:p>
            <a:pPr>
              <a:spcAft>
                <a:spcPts val="900"/>
              </a:spcAft>
              <a:defRPr sz="1800">
                <a:solidFill>
                  <a:srgbClr val="17324D"/>
                </a:solidFill>
                <a:latin typeface="Aptos"/>
              </a:defRPr>
            </a:pPr>
            <a:r>
              <a:t>• Could available evidence attribute it?</a:t>
            </a:r>
          </a:p>
          <a:p>
            <a:pPr>
              <a:spcAft>
                <a:spcPts val="900"/>
              </a:spcAft>
              <a:defRPr sz="1800">
                <a:solidFill>
                  <a:srgbClr val="17324D"/>
                </a:solidFill>
                <a:latin typeface="Aptos"/>
              </a:defRPr>
            </a:pPr>
            <a:r>
              <a:t>• Did verification or recovery stop it?</a:t>
            </a:r>
          </a:p>
          <a:p>
            <a:pPr>
              <a:spcAft>
                <a:spcPts val="900"/>
              </a:spcAft>
              <a:defRPr sz="1800">
                <a:solidFill>
                  <a:srgbClr val="17324D"/>
                </a:solidFill>
                <a:latin typeface="Aptos"/>
              </a:defRPr>
            </a:pPr>
            <a:r>
              <a:t>• What reliability cost was paid?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064240" cy="4572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2600" b="1">
                <a:solidFill>
                  <a:srgbClr val="17324D"/>
                </a:solidFill>
                <a:latin typeface="Aptos"/>
              </a:rPr>
              <a:t>Contribution and positioning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519672"/>
            <a:ext cx="11155680" cy="18288"/>
          </a:xfrm>
          <a:prstGeom prst="rect">
            <a:avLst/>
          </a:prstGeom>
          <a:solidFill>
            <a:srgbClr val="EA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6565392"/>
            <a:ext cx="6400800" cy="16459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66573"/>
                </a:solidFill>
                <a:latin typeface="Aptos"/>
              </a:rPr>
              <a:t>MAS-RELIAB · Dev Parth · Offline simulation pilot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47104"/>
            <a:ext cx="41148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66573"/>
                </a:solidFill>
                <a:latin typeface="Aptos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143000"/>
            <a:ext cx="5212080" cy="4480560"/>
          </a:xfrm>
          <a:prstGeom prst="roundRect">
            <a:avLst/>
          </a:prstGeom>
          <a:solidFill>
            <a:srgbClr val="EA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389888"/>
            <a:ext cx="466344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2100" b="1">
                <a:solidFill>
                  <a:srgbClr val="087E8B"/>
                </a:solidFill>
                <a:latin typeface="Aptos"/>
              </a:rPr>
              <a:t>What MAS-RELIAB contributes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874519"/>
            <a:ext cx="4617720" cy="3200400"/>
          </a:xfrm>
          <a:prstGeom prst="rect">
            <a:avLst/>
          </a:prstGeom>
          <a:noFill/>
        </p:spPr>
        <p:txBody>
          <a:bodyPr wrap="square" rIns="54864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17324D"/>
                </a:solidFill>
                <a:latin typeface="Aptos"/>
              </a:defRPr>
            </a:pPr>
            <a:r>
              <a:t>• One auditable methodology linking controlled faults, lineage, attribution, mitigation, and cost.</a:t>
            </a:r>
          </a:p>
          <a:p>
            <a:pPr>
              <a:spcAft>
                <a:spcPts val="900"/>
              </a:spcAft>
              <a:defRPr sz="1700">
                <a:solidFill>
                  <a:srgbClr val="17324D"/>
                </a:solidFill>
                <a:latin typeface="Aptos"/>
              </a:defRPr>
            </a:pPr>
            <a:r>
              <a:t>• Exact-state tasks and explicit intervention denominators.</a:t>
            </a:r>
          </a:p>
          <a:p>
            <a:pPr>
              <a:spcAft>
                <a:spcPts val="900"/>
              </a:spcAft>
              <a:defRPr sz="1700">
                <a:solidFill>
                  <a:srgbClr val="17324D"/>
                </a:solidFill>
                <a:latin typeface="Aptos"/>
              </a:defRPr>
            </a:pPr>
            <a:r>
              <a:t>• Executable repository, raw traces, paired inference, and negative findings.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143000"/>
            <a:ext cx="5212080" cy="4480560"/>
          </a:xfrm>
          <a:prstGeom prst="roundRect">
            <a:avLst/>
          </a:prstGeom>
          <a:solidFill>
            <a:srgbClr val="EA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389888"/>
            <a:ext cx="466344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2100" b="1">
                <a:solidFill>
                  <a:srgbClr val="B23A48"/>
                </a:solidFill>
                <a:latin typeface="Aptos"/>
              </a:rPr>
              <a:t>What it does not claim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1874519"/>
            <a:ext cx="4617720" cy="3200400"/>
          </a:xfrm>
          <a:prstGeom prst="rect">
            <a:avLst/>
          </a:prstGeom>
          <a:noFill/>
        </p:spPr>
        <p:txBody>
          <a:bodyPr wrap="square" rIns="54864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17324D"/>
                </a:solidFill>
                <a:latin typeface="Aptos"/>
              </a:defRPr>
            </a:pPr>
            <a:r>
              <a:t>• Not the first multi-agent reliability framework.</a:t>
            </a:r>
          </a:p>
          <a:p>
            <a:pPr>
              <a:spcAft>
                <a:spcPts val="900"/>
              </a:spcAft>
              <a:defRPr sz="1700">
                <a:solidFill>
                  <a:srgbClr val="17324D"/>
                </a:solidFill>
                <a:latin typeface="Aptos"/>
              </a:defRPr>
            </a:pPr>
            <a:r>
              <a:t>• Not a replacement for MAST, MultiAgentBench, ReliabilityBench, TraceElephant, RiskLab, or cascade benchmarks.</a:t>
            </a:r>
          </a:p>
          <a:p>
            <a:pPr>
              <a:spcAft>
                <a:spcPts val="900"/>
              </a:spcAft>
              <a:defRPr sz="1700">
                <a:solidFill>
                  <a:srgbClr val="17324D"/>
                </a:solidFill>
                <a:latin typeface="Aptos"/>
              </a:defRPr>
            </a:pPr>
            <a:r>
              <a:t>• Not evidence about any model, vendor, or production system.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064240" cy="4572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2600" b="1">
                <a:solidFill>
                  <a:srgbClr val="17324D"/>
                </a:solidFill>
                <a:latin typeface="Aptos"/>
              </a:rPr>
              <a:t>Research questions and hypotheses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519672"/>
            <a:ext cx="11155680" cy="18288"/>
          </a:xfrm>
          <a:prstGeom prst="rect">
            <a:avLst/>
          </a:prstGeom>
          <a:solidFill>
            <a:srgbClr val="EA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6565392"/>
            <a:ext cx="6400800" cy="16459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66573"/>
                </a:solidFill>
                <a:latin typeface="Aptos"/>
              </a:rPr>
              <a:t>MAS-RELIAB · Dev Parth · Offline simulation pilot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47104"/>
            <a:ext cx="41148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66573"/>
                </a:solidFill>
                <a:latin typeface="Aptos"/>
              </a:rP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143000"/>
            <a:ext cx="5230368" cy="1170432"/>
          </a:xfrm>
          <a:prstGeom prst="roundRect">
            <a:avLst/>
          </a:prstGeom>
          <a:solidFill>
            <a:srgbClr val="EA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289304"/>
            <a:ext cx="1005840" cy="2743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500" b="1">
                <a:solidFill>
                  <a:srgbClr val="087E8B"/>
                </a:solidFill>
                <a:latin typeface="Aptos"/>
              </a:rPr>
              <a:t>RQ1/H6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280160"/>
            <a:ext cx="3840480" cy="56692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800" b="1">
                <a:solidFill>
                  <a:srgbClr val="17324D"/>
                </a:solidFill>
                <a:latin typeface="Aptos"/>
              </a:rPr>
              <a:t>Multidimensional reliability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143000"/>
            <a:ext cx="5230368" cy="1170432"/>
          </a:xfrm>
          <a:prstGeom prst="roundRect">
            <a:avLst/>
          </a:prstGeom>
          <a:solidFill>
            <a:srgbClr val="EA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3952" y="1289304"/>
            <a:ext cx="1005840" cy="2743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500" b="1">
                <a:solidFill>
                  <a:srgbClr val="087E8B"/>
                </a:solidFill>
                <a:latin typeface="Aptos"/>
              </a:rPr>
              <a:t>RQ2/H1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52360" y="1280160"/>
            <a:ext cx="3840480" cy="56692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800" b="1">
                <a:solidFill>
                  <a:srgbClr val="17324D"/>
                </a:solidFill>
                <a:latin typeface="Aptos"/>
              </a:rPr>
              <a:t>Fault type, severity, position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715768"/>
            <a:ext cx="5230368" cy="1170432"/>
          </a:xfrm>
          <a:prstGeom prst="roundRect">
            <a:avLst/>
          </a:prstGeom>
          <a:solidFill>
            <a:srgbClr val="EA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" y="2862072"/>
            <a:ext cx="1005840" cy="2743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500" b="1">
                <a:solidFill>
                  <a:srgbClr val="087E8B"/>
                </a:solidFill>
                <a:latin typeface="Aptos"/>
              </a:rPr>
              <a:t>RQ3/H2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2852927"/>
            <a:ext cx="3840480" cy="56692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800" b="1">
                <a:solidFill>
                  <a:srgbClr val="17324D"/>
                </a:solidFill>
                <a:latin typeface="Aptos"/>
              </a:rPr>
              <a:t>Observability and attribution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2715768"/>
            <a:ext cx="5230368" cy="1170432"/>
          </a:xfrm>
          <a:prstGeom prst="roundRect">
            <a:avLst/>
          </a:prstGeom>
          <a:solidFill>
            <a:srgbClr val="EA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73952" y="2862072"/>
            <a:ext cx="1005840" cy="2743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500" b="1">
                <a:solidFill>
                  <a:srgbClr val="087E8B"/>
                </a:solidFill>
                <a:latin typeface="Aptos"/>
              </a:rPr>
              <a:t>RQ4/H3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52360" y="2852927"/>
            <a:ext cx="3840480" cy="56692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800" b="1">
                <a:solidFill>
                  <a:srgbClr val="17324D"/>
                </a:solidFill>
                <a:latin typeface="Aptos"/>
              </a:rPr>
              <a:t>Local verification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4288536"/>
            <a:ext cx="5230368" cy="1170432"/>
          </a:xfrm>
          <a:prstGeom prst="roundRect">
            <a:avLst/>
          </a:prstGeom>
          <a:solidFill>
            <a:srgbClr val="EA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2" y="4434840"/>
            <a:ext cx="1005840" cy="2743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500" b="1">
                <a:solidFill>
                  <a:srgbClr val="087E8B"/>
                </a:solidFill>
                <a:latin typeface="Aptos"/>
              </a:rPr>
              <a:t>RQ5/H4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4425696"/>
            <a:ext cx="3840480" cy="56692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800" b="1">
                <a:solidFill>
                  <a:srgbClr val="17324D"/>
                </a:solidFill>
                <a:latin typeface="Aptos"/>
              </a:rPr>
              <a:t>Recovery–cost trade-off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4288536"/>
            <a:ext cx="5230368" cy="1170432"/>
          </a:xfrm>
          <a:prstGeom prst="roundRect">
            <a:avLst/>
          </a:prstGeom>
          <a:solidFill>
            <a:srgbClr val="EA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73952" y="4434840"/>
            <a:ext cx="1005840" cy="2743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500" b="1">
                <a:solidFill>
                  <a:srgbClr val="087E8B"/>
                </a:solidFill>
                <a:latin typeface="Aptos"/>
              </a:rPr>
              <a:t>RQ6/H5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2360" y="4425696"/>
            <a:ext cx="3840480" cy="56692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800" b="1">
                <a:solidFill>
                  <a:srgbClr val="17324D"/>
                </a:solidFill>
                <a:latin typeface="Aptos"/>
              </a:rPr>
              <a:t>Topology × location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5897880"/>
            <a:ext cx="1014984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B23A48"/>
                </a:solidFill>
                <a:latin typeface="Aptos"/>
              </a:rPr>
              <a:t>Hypotheses were decisions, not promises: mixed and null results were retained.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064240" cy="4572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2600" b="1">
                <a:solidFill>
                  <a:srgbClr val="17324D"/>
                </a:solidFill>
                <a:latin typeface="Aptos"/>
              </a:rPr>
              <a:t>Simulator and exact-state tasks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519672"/>
            <a:ext cx="11155680" cy="18288"/>
          </a:xfrm>
          <a:prstGeom prst="rect">
            <a:avLst/>
          </a:prstGeom>
          <a:solidFill>
            <a:srgbClr val="EA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6565392"/>
            <a:ext cx="6400800" cy="16459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66573"/>
                </a:solidFill>
                <a:latin typeface="Aptos"/>
              </a:rPr>
              <a:t>MAS-RELIAB · Dev Parth · Offline simulation pilot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47104"/>
            <a:ext cx="41148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66573"/>
                </a:solidFill>
                <a:latin typeface="Aptos"/>
              </a:rPr>
              <a:t>6</a:t>
            </a:r>
          </a:p>
        </p:txBody>
      </p:sp>
      <p:pic>
        <p:nvPicPr>
          <p:cNvPr id="7" name="Picture 6" descr="figure_01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43000"/>
            <a:ext cx="5669280" cy="323208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46520" y="1298448"/>
            <a:ext cx="4846320" cy="4389120"/>
          </a:xfrm>
          <a:prstGeom prst="rect">
            <a:avLst/>
          </a:prstGeom>
          <a:noFill/>
        </p:spPr>
        <p:txBody>
          <a:bodyPr wrap="square" rIns="54864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17324D"/>
                </a:solidFill>
                <a:latin typeface="Aptos"/>
              </a:defRPr>
            </a:pPr>
            <a:r>
              <a:t>• Five task families; associative exact-state gold labels.</a:t>
            </a:r>
          </a:p>
          <a:p>
            <a:pPr>
              <a:spcAft>
                <a:spcPts val="900"/>
              </a:spcAft>
              <a:defRPr sz="1700">
                <a:solidFill>
                  <a:srgbClr val="17324D"/>
                </a:solidFill>
                <a:latin typeface="Aptos"/>
              </a:defRPr>
            </a:pPr>
            <a:r>
              <a:t>• Four topology plans with stochastic intrinsic errors.</a:t>
            </a:r>
          </a:p>
          <a:p>
            <a:pPr>
              <a:spcAft>
                <a:spcPts val="900"/>
              </a:spcAft>
              <a:defRPr sz="1700">
                <a:solidFill>
                  <a:srgbClr val="17324D"/>
                </a:solidFill>
                <a:latin typeface="Aptos"/>
              </a:defRPr>
            </a:pPr>
            <a:r>
              <a:t>• Unique fault lineage follows corrupted state through the DAG.</a:t>
            </a:r>
          </a:p>
          <a:p>
            <a:pPr>
              <a:spcAft>
                <a:spcPts val="900"/>
              </a:spcAft>
              <a:defRPr sz="1700">
                <a:solidFill>
                  <a:srgbClr val="17324D"/>
                </a:solidFill>
                <a:latin typeface="Aptos"/>
              </a:defRPr>
            </a:pPr>
            <a:r>
              <a:t>• Lineage stops on correction or algebraic masking.</a:t>
            </a:r>
          </a:p>
          <a:p>
            <a:pPr>
              <a:spcAft>
                <a:spcPts val="900"/>
              </a:spcAft>
              <a:defRPr sz="1700">
                <a:solidFill>
                  <a:srgbClr val="17324D"/>
                </a:solidFill>
                <a:latin typeface="Aptos"/>
              </a:defRPr>
            </a:pPr>
            <a:r>
              <a:t>• No subjective judge or text similarity.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064240" cy="4572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2600" b="1">
                <a:solidFill>
                  <a:srgbClr val="17324D"/>
                </a:solidFill>
                <a:latin typeface="Aptos"/>
              </a:rPr>
              <a:t>Four execution topologies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519672"/>
            <a:ext cx="11155680" cy="18288"/>
          </a:xfrm>
          <a:prstGeom prst="rect">
            <a:avLst/>
          </a:prstGeom>
          <a:solidFill>
            <a:srgbClr val="EA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6565392"/>
            <a:ext cx="6400800" cy="16459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66573"/>
                </a:solidFill>
                <a:latin typeface="Aptos"/>
              </a:rPr>
              <a:t>MAS-RELIAB · Dev Parth · Offline simulation pilot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47104"/>
            <a:ext cx="41148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66573"/>
                </a:solidFill>
                <a:latin typeface="Aptos"/>
              </a:rPr>
              <a:t>7</a:t>
            </a:r>
          </a:p>
        </p:txBody>
      </p:sp>
      <p:pic>
        <p:nvPicPr>
          <p:cNvPr id="7" name="Picture 6" descr="figure_04_topolog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15568"/>
            <a:ext cx="6492240" cy="31514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60920" y="1298448"/>
            <a:ext cx="4206240" cy="4297680"/>
          </a:xfrm>
          <a:prstGeom prst="rect">
            <a:avLst/>
          </a:prstGeom>
          <a:noFill/>
        </p:spPr>
        <p:txBody>
          <a:bodyPr wrap="square" rIns="54864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17324D"/>
                </a:solidFill>
                <a:latin typeface="Aptos"/>
              </a:defRPr>
            </a:pPr>
            <a:r>
              <a:t>• Single: one identity across four stages</a:t>
            </a:r>
          </a:p>
          <a:p>
            <a:pPr>
              <a:spcAft>
                <a:spcPts val="900"/>
              </a:spcAft>
              <a:defRPr sz="1600">
                <a:solidFill>
                  <a:srgbClr val="17324D"/>
                </a:solidFill>
                <a:latin typeface="Aptos"/>
              </a:defRPr>
            </a:pPr>
            <a:r>
              <a:t>• Sequential: four-agent handoff chain</a:t>
            </a:r>
          </a:p>
          <a:p>
            <a:pPr>
              <a:spcAft>
                <a:spcPts val="900"/>
              </a:spcAft>
              <a:defRPr sz="1600">
                <a:solidFill>
                  <a:srgbClr val="17324D"/>
                </a:solidFill>
                <a:latin typeface="Aptos"/>
              </a:defRPr>
            </a:pPr>
            <a:r>
              <a:t>• Parallel: four workers + aggregator</a:t>
            </a:r>
          </a:p>
          <a:p>
            <a:pPr>
              <a:spcAft>
                <a:spcPts val="900"/>
              </a:spcAft>
              <a:defRPr sz="1600">
                <a:solidFill>
                  <a:srgbClr val="17324D"/>
                </a:solidFill>
                <a:latin typeface="Aptos"/>
              </a:defRPr>
            </a:pPr>
            <a:r>
              <a:t>• Hierarchical: workers + managers + root</a:t>
            </a:r>
          </a:p>
          <a:p>
            <a:pPr>
              <a:spcAft>
                <a:spcPts val="900"/>
              </a:spcAft>
              <a:defRPr sz="1600">
                <a:solidFill>
                  <a:srgbClr val="17324D"/>
                </a:solidFill>
                <a:latin typeface="Aptos"/>
              </a:defRPr>
            </a:pPr>
            <a:r>
              <a:t>• Graph size and critical path are not equal — cost is reported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064240" cy="4572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2600" b="1">
                <a:solidFill>
                  <a:srgbClr val="17324D"/>
                </a:solidFill>
                <a:latin typeface="Aptos"/>
              </a:rPr>
              <a:t>Controlled fault protocol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519672"/>
            <a:ext cx="11155680" cy="18288"/>
          </a:xfrm>
          <a:prstGeom prst="rect">
            <a:avLst/>
          </a:prstGeom>
          <a:solidFill>
            <a:srgbClr val="EA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6565392"/>
            <a:ext cx="6400800" cy="16459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66573"/>
                </a:solidFill>
                <a:latin typeface="Aptos"/>
              </a:rPr>
              <a:t>MAS-RELIAB · Dev Parth · Offline simulation pilot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47104"/>
            <a:ext cx="41148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66573"/>
                </a:solidFill>
                <a:latin typeface="Aptos"/>
              </a:rP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234440"/>
            <a:ext cx="2487168" cy="1188720"/>
          </a:xfrm>
          <a:prstGeom prst="roundRect">
            <a:avLst/>
          </a:prstGeom>
          <a:solidFill>
            <a:srgbClr val="EA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426464"/>
            <a:ext cx="2304288" cy="2743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1800" b="1">
                <a:solidFill>
                  <a:srgbClr val="087E8B"/>
                </a:solidFill>
                <a:latin typeface="Aptos"/>
              </a:rPr>
              <a:t>Wrong value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874519"/>
            <a:ext cx="2304288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66573"/>
                </a:solidFill>
                <a:latin typeface="Aptos"/>
              </a:rPr>
              <a:t>state perturbation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02152" y="1234440"/>
            <a:ext cx="2487168" cy="1188720"/>
          </a:xfrm>
          <a:prstGeom prst="roundRect">
            <a:avLst/>
          </a:prstGeom>
          <a:solidFill>
            <a:srgbClr val="EA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93592" y="1426464"/>
            <a:ext cx="2304288" cy="2743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1800" b="1">
                <a:solidFill>
                  <a:srgbClr val="087E8B"/>
                </a:solidFill>
                <a:latin typeface="Aptos"/>
              </a:rPr>
              <a:t>Truncation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93592" y="1874519"/>
            <a:ext cx="2304288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66573"/>
                </a:solidFill>
                <a:latin typeface="Aptos"/>
              </a:rPr>
              <a:t>component loss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18504" y="1234440"/>
            <a:ext cx="2487168" cy="1188720"/>
          </a:xfrm>
          <a:prstGeom prst="roundRect">
            <a:avLst/>
          </a:prstGeom>
          <a:solidFill>
            <a:srgbClr val="EA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9944" y="1426464"/>
            <a:ext cx="2304288" cy="2743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1800" b="1">
                <a:solidFill>
                  <a:srgbClr val="087E8B"/>
                </a:solidFill>
                <a:latin typeface="Aptos"/>
              </a:rPr>
              <a:t>Referential drift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9944" y="1874519"/>
            <a:ext cx="2304288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66573"/>
                </a:solidFill>
                <a:latin typeface="Aptos"/>
              </a:rPr>
              <a:t>bit/field displacement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34856" y="1234440"/>
            <a:ext cx="2487168" cy="1188720"/>
          </a:xfrm>
          <a:prstGeom prst="roundRect">
            <a:avLst/>
          </a:prstGeom>
          <a:solidFill>
            <a:srgbClr val="EA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26296" y="1426464"/>
            <a:ext cx="2304288" cy="2743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1800" b="1">
                <a:solidFill>
                  <a:srgbClr val="087E8B"/>
                </a:solidFill>
                <a:latin typeface="Aptos"/>
              </a:rPr>
              <a:t>Timeout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26296" y="1874519"/>
            <a:ext cx="2304288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66573"/>
                </a:solidFill>
                <a:latin typeface="Aptos"/>
              </a:rPr>
              <a:t>missing state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2880360"/>
            <a:ext cx="10058400" cy="2423160"/>
          </a:xfrm>
          <a:prstGeom prst="rect">
            <a:avLst/>
          </a:prstGeom>
          <a:noFill/>
        </p:spPr>
        <p:txBody>
          <a:bodyPr wrap="square" rIns="54864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17324D"/>
                </a:solidFill>
                <a:latin typeface="Aptos"/>
              </a:defRPr>
            </a:pPr>
            <a:r>
              <a:t>• Severity: 1–2 · Position: early / middle / late</a:t>
            </a:r>
          </a:p>
          <a:p>
            <a:pPr>
              <a:spcAft>
                <a:spcPts val="900"/>
              </a:spcAft>
              <a:defRPr sz="1800">
                <a:solidFill>
                  <a:srgbClr val="17324D"/>
                </a:solidFill>
                <a:latin typeface="Aptos"/>
              </a:defRPr>
            </a:pPr>
            <a:r>
              <a:t>• Scheduled ≠ applied ≠ consumed — each is logged</a:t>
            </a:r>
          </a:p>
          <a:p>
            <a:pPr>
              <a:spcAft>
                <a:spcPts val="900"/>
              </a:spcAft>
              <a:defRPr sz="1800">
                <a:solidFill>
                  <a:srgbClr val="17324D"/>
                </a:solidFill>
                <a:latin typeface="Aptos"/>
              </a:defRPr>
            </a:pPr>
            <a:r>
              <a:t>• 11,520 E2 faults; 96.84% applied; 94.97% consumed</a:t>
            </a:r>
          </a:p>
          <a:p>
            <a:pPr>
              <a:spcAft>
                <a:spcPts val="900"/>
              </a:spcAft>
              <a:defRPr sz="1800">
                <a:solidFill>
                  <a:srgbClr val="17324D"/>
                </a:solidFill>
                <a:latin typeface="Aptos"/>
              </a:defRPr>
            </a:pPr>
            <a:r>
              <a:t>• Propagation analyses condition on consumed faults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064240" cy="4572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2600" b="1">
                <a:solidFill>
                  <a:srgbClr val="17324D"/>
                </a:solidFill>
                <a:latin typeface="Aptos"/>
              </a:rPr>
              <a:t>Six experiments and component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519672"/>
            <a:ext cx="11155680" cy="18288"/>
          </a:xfrm>
          <a:prstGeom prst="rect">
            <a:avLst/>
          </a:prstGeom>
          <a:solidFill>
            <a:srgbClr val="EA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6565392"/>
            <a:ext cx="6400800" cy="16459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66573"/>
                </a:solidFill>
                <a:latin typeface="Aptos"/>
              </a:rPr>
              <a:t>MAS-RELIAB · Dev Parth · Offline simulation pilot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47104"/>
            <a:ext cx="41148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66573"/>
                </a:solidFill>
                <a:latin typeface="Aptos"/>
              </a:rP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143000"/>
            <a:ext cx="3493008" cy="1673352"/>
          </a:xfrm>
          <a:prstGeom prst="roundRect">
            <a:avLst/>
          </a:prstGeom>
          <a:solidFill>
            <a:srgbClr val="EA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298448"/>
            <a:ext cx="59436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2200" b="1">
                <a:solidFill>
                  <a:srgbClr val="F28C28"/>
                </a:solidFill>
                <a:latin typeface="Aptos"/>
              </a:rPr>
              <a:t>E1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325880"/>
            <a:ext cx="246888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800" b="1">
                <a:solidFill>
                  <a:srgbClr val="17324D"/>
                </a:solidFill>
                <a:latin typeface="Aptos"/>
              </a:rPr>
              <a:t>Baseline reliability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011680"/>
            <a:ext cx="2423160" cy="2743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087E8B"/>
                </a:solidFill>
                <a:latin typeface="Aptos"/>
              </a:rPr>
              <a:t>1,200 eps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98848" y="1143000"/>
            <a:ext cx="3493008" cy="1673352"/>
          </a:xfrm>
          <a:prstGeom prst="roundRect">
            <a:avLst/>
          </a:prstGeom>
          <a:solidFill>
            <a:srgbClr val="EA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1298448"/>
            <a:ext cx="59436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2200" b="1">
                <a:solidFill>
                  <a:srgbClr val="F28C28"/>
                </a:solidFill>
                <a:latin typeface="Aptos"/>
              </a:rPr>
              <a:t>E2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1325880"/>
            <a:ext cx="246888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800" b="1">
                <a:solidFill>
                  <a:srgbClr val="17324D"/>
                </a:solidFill>
                <a:latin typeface="Aptos"/>
              </a:rPr>
              <a:t>Fault propagation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0" y="2011680"/>
            <a:ext cx="2423160" cy="2743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087E8B"/>
                </a:solidFill>
                <a:latin typeface="Aptos"/>
              </a:rPr>
              <a:t>11,520 eps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39328" y="1143000"/>
            <a:ext cx="3493008" cy="1673352"/>
          </a:xfrm>
          <a:prstGeom prst="roundRect">
            <a:avLst/>
          </a:prstGeom>
          <a:solidFill>
            <a:srgbClr val="EA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0" y="1298448"/>
            <a:ext cx="59436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2200" b="1">
                <a:solidFill>
                  <a:srgbClr val="F28C28"/>
                </a:solidFill>
                <a:latin typeface="Aptos"/>
              </a:rPr>
              <a:t>E3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1325880"/>
            <a:ext cx="246888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800" b="1">
                <a:solidFill>
                  <a:srgbClr val="17324D"/>
                </a:solidFill>
                <a:latin typeface="Aptos"/>
              </a:rPr>
              <a:t>Attribution views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2011680"/>
            <a:ext cx="2423160" cy="2743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087E8B"/>
                </a:solidFill>
                <a:latin typeface="Aptos"/>
              </a:rPr>
              <a:t>1,800 records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291840"/>
            <a:ext cx="3493008" cy="1673352"/>
          </a:xfrm>
          <a:prstGeom prst="roundRect">
            <a:avLst/>
          </a:prstGeom>
          <a:solidFill>
            <a:srgbClr val="EA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59" y="3447288"/>
            <a:ext cx="59436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2200" b="1">
                <a:solidFill>
                  <a:srgbClr val="F28C28"/>
                </a:solidFill>
                <a:latin typeface="Aptos"/>
              </a:rPr>
              <a:t>E4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3474720"/>
            <a:ext cx="246888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800" b="1">
                <a:solidFill>
                  <a:srgbClr val="17324D"/>
                </a:solidFill>
                <a:latin typeface="Aptos"/>
              </a:rPr>
              <a:t>Verification ablation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4160520"/>
            <a:ext cx="2423160" cy="2743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087E8B"/>
                </a:solidFill>
                <a:latin typeface="Aptos"/>
              </a:rPr>
              <a:t>1,920 eps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98848" y="3291840"/>
            <a:ext cx="3493008" cy="1673352"/>
          </a:xfrm>
          <a:prstGeom prst="roundRect">
            <a:avLst/>
          </a:prstGeom>
          <a:solidFill>
            <a:srgbClr val="EA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63440" y="3447288"/>
            <a:ext cx="59436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2200" b="1">
                <a:solidFill>
                  <a:srgbClr val="F28C28"/>
                </a:solidFill>
                <a:latin typeface="Aptos"/>
              </a:rPr>
              <a:t>E5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3474720"/>
            <a:ext cx="246888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800" b="1">
                <a:solidFill>
                  <a:srgbClr val="17324D"/>
                </a:solidFill>
                <a:latin typeface="Aptos"/>
              </a:rPr>
              <a:t>Recovery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0" y="4160520"/>
            <a:ext cx="2423160" cy="2743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087E8B"/>
                </a:solidFill>
                <a:latin typeface="Aptos"/>
              </a:rPr>
              <a:t>1,920 eps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339328" y="3291840"/>
            <a:ext cx="3493008" cy="1673352"/>
          </a:xfrm>
          <a:prstGeom prst="roundRect">
            <a:avLst/>
          </a:prstGeom>
          <a:solidFill>
            <a:srgbClr val="EA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03920" y="3447288"/>
            <a:ext cx="59436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2200" b="1">
                <a:solidFill>
                  <a:srgbClr val="F28C28"/>
                </a:solidFill>
                <a:latin typeface="Aptos"/>
              </a:rPr>
              <a:t>E6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3474720"/>
            <a:ext cx="246888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800" b="1">
                <a:solidFill>
                  <a:srgbClr val="17324D"/>
                </a:solidFill>
                <a:latin typeface="Aptos"/>
              </a:rPr>
              <a:t>Cost/topology synthesis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4160520"/>
            <a:ext cx="2423160" cy="2743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087E8B"/>
                </a:solidFill>
                <a:latin typeface="Aptos"/>
              </a:rPr>
              <a:t>derived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5623560"/>
            <a:ext cx="10698480" cy="4114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1500" b="1">
                <a:solidFill>
                  <a:srgbClr val="566573"/>
                </a:solidFill>
                <a:latin typeface="Aptos"/>
              </a:rPr>
              <a:t>Inference: task-clustered bootstrap CIs · paired exact/Wilcoxon tests · effect sizes · Holm adjustment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064240" cy="4572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2600" b="1">
                <a:solidFill>
                  <a:srgbClr val="17324D"/>
                </a:solidFill>
                <a:latin typeface="Aptos"/>
              </a:rPr>
              <a:t>E1 result: reliability is multidimensional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519672"/>
            <a:ext cx="11155680" cy="18288"/>
          </a:xfrm>
          <a:prstGeom prst="rect">
            <a:avLst/>
          </a:prstGeom>
          <a:solidFill>
            <a:srgbClr val="EA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6565392"/>
            <a:ext cx="6400800" cy="16459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66573"/>
                </a:solidFill>
                <a:latin typeface="Aptos"/>
              </a:rPr>
              <a:t>MAS-RELIAB · Dev Parth · Offline simulation pilot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47104"/>
            <a:ext cx="41148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66573"/>
                </a:solidFill>
                <a:latin typeface="Aptos"/>
              </a:rPr>
              <a:t>10</a:t>
            </a:r>
          </a:p>
        </p:txBody>
      </p:sp>
      <p:pic>
        <p:nvPicPr>
          <p:cNvPr id="7" name="Picture 6" descr="figure_01_baseline_reli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78992"/>
            <a:ext cx="7452360" cy="2303457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275320" y="1325880"/>
            <a:ext cx="2926080" cy="960120"/>
          </a:xfrm>
          <a:prstGeom prst="roundRect">
            <a:avLst/>
          </a:prstGeom>
          <a:solidFill>
            <a:srgbClr val="EA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48472" y="1408176"/>
            <a:ext cx="2779776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2500" b="1">
                <a:solidFill>
                  <a:srgbClr val="087E8B"/>
                </a:solidFill>
                <a:latin typeface="Aptos"/>
              </a:rPr>
              <a:t>0.870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48472" y="1856231"/>
            <a:ext cx="2779776" cy="25603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1000" b="0">
                <a:solidFill>
                  <a:srgbClr val="566573"/>
                </a:solidFill>
                <a:latin typeface="Aptos"/>
              </a:rPr>
              <a:t>highest TSR: single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2606040"/>
            <a:ext cx="2926080" cy="960120"/>
          </a:xfrm>
          <a:prstGeom prst="roundRect">
            <a:avLst/>
          </a:prstGeom>
          <a:solidFill>
            <a:srgbClr val="EA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48472" y="2688336"/>
            <a:ext cx="2779776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2500" b="1">
                <a:solidFill>
                  <a:srgbClr val="F28C28"/>
                </a:solidFill>
                <a:latin typeface="Aptos"/>
              </a:rPr>
              <a:t>0.533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48472" y="3136392"/>
            <a:ext cx="2779776" cy="25603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1000" b="0">
                <a:solidFill>
                  <a:srgbClr val="566573"/>
                </a:solidFill>
                <a:latin typeface="Aptos"/>
              </a:rPr>
              <a:t>highest pass-all: sequential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75320" y="3886200"/>
            <a:ext cx="2926080" cy="960120"/>
          </a:xfrm>
          <a:prstGeom prst="roundRect">
            <a:avLst/>
          </a:prstGeom>
          <a:solidFill>
            <a:srgbClr val="EA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48472" y="3968496"/>
            <a:ext cx="2779776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2500" b="1">
                <a:solidFill>
                  <a:srgbClr val="087E8B"/>
                </a:solidFill>
                <a:latin typeface="Aptos"/>
              </a:rPr>
              <a:t>25.75 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48472" y="4416552"/>
            <a:ext cx="2779776" cy="25603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1000" b="0">
                <a:solidFill>
                  <a:srgbClr val="566573"/>
                </a:solidFill>
                <a:latin typeface="Aptos"/>
              </a:rPr>
              <a:t>shortest sim. latency: parallel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5257800"/>
            <a:ext cx="320040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B23A48"/>
                </a:solidFill>
                <a:latin typeface="Aptos"/>
              </a:rPr>
              <a:t>H6 not supported by the direct paired DAF contrast.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064240" cy="4572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2600" b="1">
                <a:solidFill>
                  <a:srgbClr val="17324D"/>
                </a:solidFill>
                <a:latin typeface="Aptos"/>
              </a:rPr>
              <a:t>E2 result: position changes opportunity and final impact differently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519672"/>
            <a:ext cx="11155680" cy="18288"/>
          </a:xfrm>
          <a:prstGeom prst="rect">
            <a:avLst/>
          </a:prstGeom>
          <a:solidFill>
            <a:srgbClr val="EA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6565392"/>
            <a:ext cx="6400800" cy="16459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66573"/>
                </a:solidFill>
                <a:latin typeface="Aptos"/>
              </a:rPr>
              <a:t>MAS-RELIAB · Dev Parth · Offline simulation pilot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47104"/>
            <a:ext cx="41148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66573"/>
                </a:solidFill>
                <a:latin typeface="Aptos"/>
              </a:rPr>
              <a:t>11</a:t>
            </a:r>
          </a:p>
        </p:txBody>
      </p:sp>
      <p:pic>
        <p:nvPicPr>
          <p:cNvPr id="7" name="Picture 6" descr="figure_02_fault_propag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78992"/>
            <a:ext cx="7498079" cy="308254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275320" y="1325880"/>
            <a:ext cx="2971800" cy="960120"/>
          </a:xfrm>
          <a:prstGeom prst="roundRect">
            <a:avLst/>
          </a:prstGeom>
          <a:solidFill>
            <a:srgbClr val="EA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48472" y="1408176"/>
            <a:ext cx="2825496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2500" b="1">
                <a:solidFill>
                  <a:srgbClr val="087E8B"/>
                </a:solidFill>
                <a:latin typeface="Aptos"/>
              </a:rPr>
              <a:t>+0.969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48472" y="1856231"/>
            <a:ext cx="2825496" cy="25603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1000" b="0">
                <a:solidFill>
                  <a:srgbClr val="566573"/>
                </a:solidFill>
                <a:latin typeface="Aptos"/>
              </a:rPr>
              <a:t>early − late EPR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2606040"/>
            <a:ext cx="2971800" cy="960120"/>
          </a:xfrm>
          <a:prstGeom prst="roundRect">
            <a:avLst/>
          </a:prstGeom>
          <a:solidFill>
            <a:srgbClr val="EA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48472" y="2688336"/>
            <a:ext cx="2825496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2500" b="1">
                <a:solidFill>
                  <a:srgbClr val="087E8B"/>
                </a:solidFill>
                <a:latin typeface="Aptos"/>
              </a:rPr>
              <a:t>+2.181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48472" y="3136392"/>
            <a:ext cx="2825496" cy="25603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1000" b="0">
                <a:solidFill>
                  <a:srgbClr val="566573"/>
                </a:solidFill>
                <a:latin typeface="Aptos"/>
              </a:rPr>
              <a:t>early − late depth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75320" y="3886200"/>
            <a:ext cx="2971800" cy="960120"/>
          </a:xfrm>
          <a:prstGeom prst="roundRect">
            <a:avLst/>
          </a:prstGeom>
          <a:solidFill>
            <a:srgbClr val="EA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48472" y="3968496"/>
            <a:ext cx="2825496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2500" b="1">
                <a:solidFill>
                  <a:srgbClr val="B23A48"/>
                </a:solidFill>
                <a:latin typeface="Aptos"/>
              </a:rPr>
              <a:t>−0.020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48472" y="4416552"/>
            <a:ext cx="2825496" cy="25603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1000" b="0">
                <a:solidFill>
                  <a:srgbClr val="566573"/>
                </a:solidFill>
                <a:latin typeface="Aptos"/>
              </a:rPr>
              <a:t>early − late DAF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5230368"/>
            <a:ext cx="3017520" cy="4114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1800" b="1">
                <a:solidFill>
                  <a:srgbClr val="B23A48"/>
                </a:solidFill>
                <a:latin typeface="Aptos"/>
              </a:rPr>
              <a:t>H1: MIXED SUPPORT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064240" cy="4572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2600" b="1">
                <a:solidFill>
                  <a:srgbClr val="17324D"/>
                </a:solidFill>
                <a:latin typeface="Aptos"/>
              </a:rPr>
              <a:t>E3 result: trace evidence improves attribution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519672"/>
            <a:ext cx="11155680" cy="18288"/>
          </a:xfrm>
          <a:prstGeom prst="rect">
            <a:avLst/>
          </a:prstGeom>
          <a:solidFill>
            <a:srgbClr val="EA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6565392"/>
            <a:ext cx="6400800" cy="16459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66573"/>
                </a:solidFill>
                <a:latin typeface="Aptos"/>
              </a:rPr>
              <a:t>MAS-RELIAB · Dev Parth · Offline simulation pilot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47104"/>
            <a:ext cx="41148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66573"/>
                </a:solidFill>
                <a:latin typeface="Aptos"/>
              </a:rPr>
              <a:t>12</a:t>
            </a:r>
          </a:p>
        </p:txBody>
      </p:sp>
      <p:pic>
        <p:nvPicPr>
          <p:cNvPr id="7" name="Picture 6" descr="figure_03_at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124712"/>
            <a:ext cx="6446520" cy="366955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452360" y="1234440"/>
            <a:ext cx="1828800" cy="960120"/>
          </a:xfrm>
          <a:prstGeom prst="roundRect">
            <a:avLst/>
          </a:prstGeom>
          <a:solidFill>
            <a:srgbClr val="EA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25512" y="1316736"/>
            <a:ext cx="1682496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2500" b="1">
                <a:solidFill>
                  <a:srgbClr val="B23A48"/>
                </a:solidFill>
                <a:latin typeface="Aptos"/>
              </a:rPr>
              <a:t>0.302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25512" y="1764792"/>
            <a:ext cx="1682496" cy="25603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1000" b="0">
                <a:solidFill>
                  <a:srgbClr val="566573"/>
                </a:solidFill>
                <a:latin typeface="Aptos"/>
              </a:rPr>
              <a:t>output only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464040" y="1234440"/>
            <a:ext cx="1828800" cy="960120"/>
          </a:xfrm>
          <a:prstGeom prst="roundRect">
            <a:avLst/>
          </a:prstGeom>
          <a:solidFill>
            <a:srgbClr val="EA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37192" y="1316736"/>
            <a:ext cx="1682496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2500" b="1">
                <a:solidFill>
                  <a:srgbClr val="F28C28"/>
                </a:solidFill>
                <a:latin typeface="Aptos"/>
              </a:rPr>
              <a:t>0.803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37192" y="1764792"/>
            <a:ext cx="1682496" cy="25603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1000" b="0">
                <a:solidFill>
                  <a:srgbClr val="566573"/>
                </a:solidFill>
                <a:latin typeface="Aptos"/>
              </a:rPr>
              <a:t>sparse trace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58200" y="2542032"/>
            <a:ext cx="1828800" cy="960120"/>
          </a:xfrm>
          <a:prstGeom prst="roundRect">
            <a:avLst/>
          </a:prstGeom>
          <a:solidFill>
            <a:srgbClr val="EA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31352" y="2624327"/>
            <a:ext cx="1682496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2500" b="1">
                <a:solidFill>
                  <a:srgbClr val="087E8B"/>
                </a:solidFill>
                <a:latin typeface="Aptos"/>
              </a:rPr>
              <a:t>0.892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31352" y="3072384"/>
            <a:ext cx="1682496" cy="25603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1000" b="0">
                <a:solidFill>
                  <a:srgbClr val="566573"/>
                </a:solidFill>
                <a:latin typeface="Aptos"/>
              </a:rPr>
              <a:t>full trace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52360" y="3840480"/>
            <a:ext cx="3840480" cy="10972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1700" b="1">
                <a:solidFill>
                  <a:srgbClr val="17324D"/>
                </a:solidFill>
                <a:latin typeface="Aptos"/>
              </a:rPr>
              <a:t>Paired full − output: +0.590
95% CI [0.543, 0.637]
Holm p &lt; 0.001 · effect 0.839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60920" y="5285232"/>
            <a:ext cx="4114800" cy="4572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1500" b="1">
                <a:solidFill>
                  <a:srgbClr val="B23A48"/>
                </a:solidFill>
                <a:latin typeface="Aptos"/>
              </a:rPr>
              <a:t>H2 SUPPORTED — but full trace contains oracle validity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064240" cy="4572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2600" b="1">
                <a:solidFill>
                  <a:srgbClr val="17324D"/>
                </a:solidFill>
                <a:latin typeface="Aptos"/>
              </a:rPr>
              <a:t>E4 result: local oracle verification contains cascades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519672"/>
            <a:ext cx="11155680" cy="18288"/>
          </a:xfrm>
          <a:prstGeom prst="rect">
            <a:avLst/>
          </a:prstGeom>
          <a:solidFill>
            <a:srgbClr val="EA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6565392"/>
            <a:ext cx="6400800" cy="16459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66573"/>
                </a:solidFill>
                <a:latin typeface="Aptos"/>
              </a:rPr>
              <a:t>MAS-RELIAB · Dev Parth · Offline simulation pilot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47104"/>
            <a:ext cx="41148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66573"/>
                </a:solidFill>
                <a:latin typeface="Aptos"/>
              </a:rPr>
              <a:t>13</a:t>
            </a:r>
          </a:p>
        </p:txBody>
      </p:sp>
      <p:pic>
        <p:nvPicPr>
          <p:cNvPr id="7" name="Picture 6" descr="figure_04_verific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1078992"/>
            <a:ext cx="7635240" cy="2825039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366760" y="1389888"/>
            <a:ext cx="2834640" cy="960120"/>
          </a:xfrm>
          <a:prstGeom prst="roundRect">
            <a:avLst/>
          </a:prstGeom>
          <a:solidFill>
            <a:srgbClr val="EA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39912" y="1472184"/>
            <a:ext cx="2688336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2500" b="1">
                <a:solidFill>
                  <a:srgbClr val="087E8B"/>
                </a:solidFill>
                <a:latin typeface="Aptos"/>
              </a:rPr>
              <a:t>−0.619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39912" y="1920240"/>
            <a:ext cx="2688336" cy="25603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1000" b="0">
                <a:solidFill>
                  <a:srgbClr val="566573"/>
                </a:solidFill>
                <a:latin typeface="Aptos"/>
              </a:rPr>
              <a:t>local − final EPR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66760" y="2788920"/>
            <a:ext cx="2834640" cy="960120"/>
          </a:xfrm>
          <a:prstGeom prst="roundRect">
            <a:avLst/>
          </a:prstGeom>
          <a:solidFill>
            <a:srgbClr val="EA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39912" y="2871215"/>
            <a:ext cx="2688336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2500" b="1">
                <a:solidFill>
                  <a:srgbClr val="F28C28"/>
                </a:solidFill>
                <a:latin typeface="Aptos"/>
              </a:rPr>
              <a:t>+0.505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39912" y="3319272"/>
            <a:ext cx="2688336" cy="25603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1000" b="0">
                <a:solidFill>
                  <a:srgbClr val="566573"/>
                </a:solidFill>
                <a:latin typeface="Aptos"/>
              </a:rPr>
              <a:t>work units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4160520"/>
            <a:ext cx="274320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1500" b="1">
                <a:solidFill>
                  <a:srgbClr val="17324D"/>
                </a:solidFill>
                <a:latin typeface="Aptos"/>
              </a:rPr>
              <a:t>Both Holm p &lt; 0.001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40" y="4754880"/>
            <a:ext cx="3383280" cy="8686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B23A48"/>
                </a:solidFill>
                <a:latin typeface="Aptos"/>
              </a:rPr>
              <a:t>H3 SUPPORTED
Upper-bound result under privileged exact-state checking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064240" cy="4572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2600" b="1">
                <a:solidFill>
                  <a:srgbClr val="17324D"/>
                </a:solidFill>
                <a:latin typeface="Aptos"/>
              </a:rPr>
              <a:t>E5 result: no universal recovery winner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519672"/>
            <a:ext cx="11155680" cy="18288"/>
          </a:xfrm>
          <a:prstGeom prst="rect">
            <a:avLst/>
          </a:prstGeom>
          <a:solidFill>
            <a:srgbClr val="EA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6565392"/>
            <a:ext cx="6400800" cy="16459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66573"/>
                </a:solidFill>
                <a:latin typeface="Aptos"/>
              </a:rPr>
              <a:t>MAS-RELIAB · Dev Parth · Offline simulation pilot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47104"/>
            <a:ext cx="41148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66573"/>
                </a:solidFill>
                <a:latin typeface="Aptos"/>
              </a:rPr>
              <a:t>14</a:t>
            </a:r>
          </a:p>
        </p:txBody>
      </p:sp>
      <p:pic>
        <p:nvPicPr>
          <p:cNvPr id="7" name="Picture 6" descr="figure_05_recov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1078992"/>
            <a:ext cx="7635240" cy="2825039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275320" y="1234440"/>
            <a:ext cx="3017520" cy="960120"/>
          </a:xfrm>
          <a:prstGeom prst="roundRect">
            <a:avLst/>
          </a:prstGeom>
          <a:solidFill>
            <a:srgbClr val="EA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48472" y="1316736"/>
            <a:ext cx="2871215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2500" b="1">
                <a:solidFill>
                  <a:srgbClr val="087E8B"/>
                </a:solidFill>
                <a:latin typeface="Aptos"/>
              </a:rPr>
              <a:t>+0.036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48472" y="1764792"/>
            <a:ext cx="2871215" cy="25603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1000" b="0">
                <a:solidFill>
                  <a:srgbClr val="566573"/>
                </a:solidFill>
                <a:latin typeface="Aptos"/>
              </a:rPr>
              <a:t>redundant − retry recovery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2560320"/>
            <a:ext cx="3017520" cy="960120"/>
          </a:xfrm>
          <a:prstGeom prst="roundRect">
            <a:avLst/>
          </a:prstGeom>
          <a:solidFill>
            <a:srgbClr val="EA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48472" y="2642615"/>
            <a:ext cx="2871215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2500" b="1">
                <a:solidFill>
                  <a:srgbClr val="F28C28"/>
                </a:solidFill>
                <a:latin typeface="Aptos"/>
              </a:rPr>
              <a:t>+1.013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48472" y="3090672"/>
            <a:ext cx="2871215" cy="25603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1000" b="0">
                <a:solidFill>
                  <a:srgbClr val="566573"/>
                </a:solidFill>
                <a:latin typeface="Aptos"/>
              </a:rPr>
              <a:t>redundant − retry work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79" y="3886200"/>
            <a:ext cx="3200400" cy="9144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17324D"/>
                </a:solidFill>
                <a:latin typeface="Aptos"/>
              </a:rPr>
              <a:t>Recovery gain failed Holm correction (p = 0.356).
Isolation was cheaper but recovered fewer faults.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5230368"/>
            <a:ext cx="2926080" cy="4114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1800" b="1">
                <a:solidFill>
                  <a:srgbClr val="B23A48"/>
                </a:solidFill>
                <a:latin typeface="Aptos"/>
              </a:rPr>
              <a:t>H4 NOT SUPPORTED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064240" cy="4572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2600" b="1">
                <a:solidFill>
                  <a:srgbClr val="17324D"/>
                </a:solidFill>
                <a:latin typeface="Aptos"/>
              </a:rPr>
              <a:t>E6 result: reliability–cost operating points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519672"/>
            <a:ext cx="11155680" cy="18288"/>
          </a:xfrm>
          <a:prstGeom prst="rect">
            <a:avLst/>
          </a:prstGeom>
          <a:solidFill>
            <a:srgbClr val="EA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6565392"/>
            <a:ext cx="6400800" cy="16459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66573"/>
                </a:solidFill>
                <a:latin typeface="Aptos"/>
              </a:rPr>
              <a:t>MAS-RELIAB · Dev Parth · Offline simulation pilot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47104"/>
            <a:ext cx="41148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66573"/>
                </a:solidFill>
                <a:latin typeface="Aptos"/>
              </a:rPr>
              <a:t>15</a:t>
            </a:r>
          </a:p>
        </p:txBody>
      </p:sp>
      <p:pic>
        <p:nvPicPr>
          <p:cNvPr id="7" name="Picture 6" descr="figure_06_tradeo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78992"/>
            <a:ext cx="7955279" cy="497204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75320" y="1417320"/>
            <a:ext cx="3337560" cy="3474720"/>
          </a:xfrm>
          <a:prstGeom prst="rect">
            <a:avLst/>
          </a:prstGeom>
          <a:noFill/>
        </p:spPr>
        <p:txBody>
          <a:bodyPr wrap="square" rIns="54864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17324D"/>
                </a:solidFill>
                <a:latin typeface="Aptos"/>
              </a:defRPr>
            </a:pPr>
            <a:r>
              <a:t>• Redundancy moves upward and right: more success, more work.</a:t>
            </a:r>
          </a:p>
          <a:p>
            <a:pPr>
              <a:spcAft>
                <a:spcPts val="900"/>
              </a:spcAft>
              <a:defRPr sz="1500">
                <a:solidFill>
                  <a:srgbClr val="17324D"/>
                </a:solidFill>
                <a:latin typeface="Aptos"/>
              </a:defRPr>
            </a:pPr>
            <a:r>
              <a:t>• Parallel plans shorten simulated critical path but use more work.</a:t>
            </a:r>
          </a:p>
          <a:p>
            <a:pPr>
              <a:spcAft>
                <a:spcPts val="900"/>
              </a:spcAft>
              <a:defRPr sz="1500">
                <a:solidFill>
                  <a:srgbClr val="17324D"/>
                </a:solidFill>
                <a:latin typeface="Aptos"/>
              </a:defRPr>
            </a:pPr>
            <a:r>
              <a:t>• No scalar composite — weights would encode stakeholder utility.</a:t>
            </a:r>
          </a:p>
          <a:p>
            <a:pPr>
              <a:spcAft>
                <a:spcPts val="900"/>
              </a:spcAft>
              <a:defRPr sz="1500">
                <a:solidFill>
                  <a:srgbClr val="17324D"/>
                </a:solidFill>
                <a:latin typeface="Aptos"/>
              </a:defRPr>
            </a:pPr>
            <a:r>
              <a:t>• H5 and H6 were not supported.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064240" cy="4572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2600" b="1">
                <a:solidFill>
                  <a:srgbClr val="17324D"/>
                </a:solidFill>
                <a:latin typeface="Aptos"/>
              </a:rPr>
              <a:t>Hypothesis decisions: report what happened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519672"/>
            <a:ext cx="11155680" cy="18288"/>
          </a:xfrm>
          <a:prstGeom prst="rect">
            <a:avLst/>
          </a:prstGeom>
          <a:solidFill>
            <a:srgbClr val="EA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6565392"/>
            <a:ext cx="6400800" cy="16459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66573"/>
                </a:solidFill>
                <a:latin typeface="Aptos"/>
              </a:rPr>
              <a:t>MAS-RELIAB · Dev Parth · Offline simulation pilot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47104"/>
            <a:ext cx="41148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66573"/>
                </a:solidFill>
                <a:latin typeface="Aptos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59436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900" b="1">
                <a:solidFill>
                  <a:srgbClr val="17324D"/>
                </a:solidFill>
                <a:latin typeface="Aptos"/>
              </a:rPr>
              <a:t>H1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17320" y="1069848"/>
            <a:ext cx="1828800" cy="502920"/>
          </a:xfrm>
          <a:prstGeom prst="round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81328" y="1170432"/>
            <a:ext cx="1691640" cy="219456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MIXED SUPPORT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1078992"/>
            <a:ext cx="790956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300" b="0">
                <a:solidFill>
                  <a:srgbClr val="17324D"/>
                </a:solidFill>
                <a:latin typeface="Aptos"/>
              </a:rPr>
              <a:t>Early injections increased EPR and depth, but their DAF contrast was lower than late injections; the directional evidence was mixed.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856231"/>
            <a:ext cx="59436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900" b="1">
                <a:solidFill>
                  <a:srgbClr val="17324D"/>
                </a:solidFill>
                <a:latin typeface="Aptos"/>
              </a:rPr>
              <a:t>H2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417320" y="1828799"/>
            <a:ext cx="1828800" cy="502920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81328" y="1929384"/>
            <a:ext cx="1691640" cy="219456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SUPPORTED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1837943"/>
            <a:ext cx="790956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300" b="0">
                <a:solidFill>
                  <a:srgbClr val="17324D"/>
                </a:solidFill>
                <a:latin typeface="Aptos"/>
              </a:rPr>
              <a:t>Paired full-trace versus output-only top-1 attribution.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615184"/>
            <a:ext cx="59436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900" b="1">
                <a:solidFill>
                  <a:srgbClr val="17324D"/>
                </a:solidFill>
                <a:latin typeface="Aptos"/>
              </a:rPr>
              <a:t>H3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417320" y="2587752"/>
            <a:ext cx="1828800" cy="502920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81328" y="2688336"/>
            <a:ext cx="1691640" cy="219456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SUPPORTED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2596896"/>
            <a:ext cx="790956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300" b="0">
                <a:solidFill>
                  <a:srgbClr val="17324D"/>
                </a:solidFill>
                <a:latin typeface="Aptos"/>
              </a:rPr>
              <a:t>Paired local-verification reduction in EPR/DAF versus final-only/no verification.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374135"/>
            <a:ext cx="59436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900" b="1">
                <a:solidFill>
                  <a:srgbClr val="17324D"/>
                </a:solidFill>
                <a:latin typeface="Aptos"/>
              </a:rPr>
              <a:t>H4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417320" y="3346703"/>
            <a:ext cx="1828800" cy="502920"/>
          </a:xfrm>
          <a:prstGeom prst="roundRect">
            <a:avLst/>
          </a:prstGeom>
          <a:solidFill>
            <a:srgbClr val="B23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81328" y="3447287"/>
            <a:ext cx="1691640" cy="219456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NOT SUPPORTED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3355847"/>
            <a:ext cx="790956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300" b="0">
                <a:solidFill>
                  <a:srgbClr val="17324D"/>
                </a:solidFill>
                <a:latin typeface="Aptos"/>
              </a:rPr>
              <a:t>Recovery gain and work-unit cost of isolate/redundant versus retry.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133087"/>
            <a:ext cx="59436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900" b="1">
                <a:solidFill>
                  <a:srgbClr val="17324D"/>
                </a:solidFill>
                <a:latin typeface="Aptos"/>
              </a:rPr>
              <a:t>H5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417320" y="4105655"/>
            <a:ext cx="1828800" cy="502920"/>
          </a:xfrm>
          <a:prstGeom prst="roundRect">
            <a:avLst/>
          </a:prstGeom>
          <a:solidFill>
            <a:srgbClr val="B23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81328" y="4206240"/>
            <a:ext cx="1691640" cy="219456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NOT SUPPORTED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74720" y="4114800"/>
            <a:ext cx="790956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300" b="0">
                <a:solidFill>
                  <a:srgbClr val="17324D"/>
                </a:solidFill>
                <a:latin typeface="Aptos"/>
              </a:rPr>
              <a:t>Hierarchy manager-versus-leaf and parallel-versus-hierarchical worker contrasts.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4892040"/>
            <a:ext cx="59436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900" b="1">
                <a:solidFill>
                  <a:srgbClr val="17324D"/>
                </a:solidFill>
                <a:latin typeface="Aptos"/>
              </a:rPr>
              <a:t>H6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417320" y="4864607"/>
            <a:ext cx="1828800" cy="502920"/>
          </a:xfrm>
          <a:prstGeom prst="roundRect">
            <a:avLst/>
          </a:prstGeom>
          <a:solidFill>
            <a:srgbClr val="B23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81328" y="4965192"/>
            <a:ext cx="1691640" cy="219456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NOT SUPPORTED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74720" y="4873752"/>
            <a:ext cx="790956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300" b="0">
                <a:solidFill>
                  <a:srgbClr val="17324D"/>
                </a:solidFill>
                <a:latin typeface="Aptos"/>
              </a:rPr>
              <a:t>TSR rank=['single', 'sequential', 'parallel', 'hierarchical']; cost rank=['single', 'sequential', 'parallel', 'hierarchical']; DAF-containment rank=['parallel', 'hierarchical', 'sequential', 'single'].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5897880"/>
            <a:ext cx="996696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B23A48"/>
                </a:solidFill>
                <a:latin typeface="Aptos"/>
              </a:rPr>
              <a:t>Negative and contradictory outcomes were not converted into confirmations.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064240" cy="4572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2600" b="1">
                <a:solidFill>
                  <a:srgbClr val="17324D"/>
                </a:solidFill>
                <a:latin typeface="Aptos"/>
              </a:rPr>
              <a:t>Methodological weaknesses — research-quality review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519672"/>
            <a:ext cx="11155680" cy="18288"/>
          </a:xfrm>
          <a:prstGeom prst="rect">
            <a:avLst/>
          </a:prstGeom>
          <a:solidFill>
            <a:srgbClr val="EA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6565392"/>
            <a:ext cx="6400800" cy="16459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66573"/>
                </a:solidFill>
                <a:latin typeface="Aptos"/>
              </a:rPr>
              <a:t>MAS-RELIAB · Dev Parth · Offline simulation pilot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47104"/>
            <a:ext cx="41148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66573"/>
                </a:solidFill>
                <a:latin typeface="Aptos"/>
              </a:rP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143000"/>
            <a:ext cx="6629400" cy="4480560"/>
          </a:xfrm>
          <a:prstGeom prst="rect">
            <a:avLst/>
          </a:prstGeom>
          <a:noFill/>
        </p:spPr>
        <p:txBody>
          <a:bodyPr wrap="square" rIns="54864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17324D"/>
                </a:solidFill>
                <a:latin typeface="Aptos"/>
              </a:defRPr>
            </a:pPr>
            <a:r>
              <a:t>• No external validity: synthetic state transformers, not LLM agents.</a:t>
            </a:r>
          </a:p>
          <a:p>
            <a:pPr>
              <a:spcAft>
                <a:spcPts val="900"/>
              </a:spcAft>
              <a:defRPr sz="1700">
                <a:solidFill>
                  <a:srgbClr val="17324D"/>
                </a:solidFill>
                <a:latin typeface="Aptos"/>
              </a:defRPr>
            </a:pPr>
            <a:r>
              <a:t>• Oracle intermediate states make verification and attribution optimistic.</a:t>
            </a:r>
          </a:p>
          <a:p>
            <a:pPr>
              <a:spcAft>
                <a:spcPts val="900"/>
              </a:spcAft>
              <a:defRPr sz="1700">
                <a:solidFill>
                  <a:srgbClr val="17324D"/>
                </a:solidFill>
                <a:latin typeface="Aptos"/>
              </a:defRPr>
            </a:pPr>
            <a:r>
              <a:t>• Researcher-set rates can determine rankings — sensitivity analysis is required.</a:t>
            </a:r>
          </a:p>
          <a:p>
            <a:pPr>
              <a:spcAft>
                <a:spcPts val="900"/>
              </a:spcAft>
              <a:defRPr sz="1700">
                <a:solidFill>
                  <a:srgbClr val="17324D"/>
                </a:solidFill>
                <a:latin typeface="Aptos"/>
              </a:defRPr>
            </a:pPr>
            <a:r>
              <a:t>• Functional positions are not graph-equivalent; late EPR is structurally zero.</a:t>
            </a:r>
          </a:p>
          <a:p>
            <a:pPr>
              <a:spcAft>
                <a:spcPts val="900"/>
              </a:spcAft>
              <a:defRPr sz="1700">
                <a:solidFill>
                  <a:srgbClr val="17324D"/>
                </a:solidFill>
                <a:latin typeface="Aptos"/>
              </a:defRPr>
            </a:pPr>
            <a:r>
              <a:t>• 60 measured tasks and five algebraic families limit generalization.</a:t>
            </a:r>
          </a:p>
          <a:p>
            <a:pPr>
              <a:spcAft>
                <a:spcPts val="900"/>
              </a:spcAft>
              <a:defRPr sz="1700">
                <a:solidFill>
                  <a:srgbClr val="17324D"/>
                </a:solidFill>
                <a:latin typeface="Aptos"/>
              </a:defRPr>
            </a:pPr>
            <a:r>
              <a:t>• Work and latency are simulated, not observed cost.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26679" y="1234440"/>
            <a:ext cx="3566160" cy="4297680"/>
          </a:xfrm>
          <a:prstGeom prst="roundRect">
            <a:avLst/>
          </a:prstGeom>
          <a:solidFill>
            <a:srgbClr val="EA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0" y="1554480"/>
            <a:ext cx="292608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2500" b="1">
                <a:solidFill>
                  <a:srgbClr val="087E8B"/>
                </a:solidFill>
                <a:latin typeface="Aptos"/>
              </a:rPr>
              <a:t>Verdict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0" y="2286000"/>
            <a:ext cx="3017520" cy="2743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1700" b="1">
                <a:solidFill>
                  <a:srgbClr val="17324D"/>
                </a:solidFill>
                <a:latin typeface="Aptos"/>
              </a:rPr>
              <a:t>Fit for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2651760"/>
            <a:ext cx="2926080" cy="10515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1600" b="0">
                <a:solidFill>
                  <a:srgbClr val="17324D"/>
                </a:solidFill>
                <a:latin typeface="Aptos"/>
              </a:rPr>
              <a:t>implementation pilot
method validation
hypothesis refinement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0" y="3950208"/>
            <a:ext cx="3017520" cy="2743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1700" b="1">
                <a:solidFill>
                  <a:srgbClr val="B23A48"/>
                </a:solidFill>
                <a:latin typeface="Aptos"/>
              </a:rPr>
              <a:t>Not fit for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4315968"/>
            <a:ext cx="2926080" cy="9601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1600" b="0">
                <a:solidFill>
                  <a:srgbClr val="B23A48"/>
                </a:solidFill>
                <a:latin typeface="Aptos"/>
              </a:rPr>
              <a:t>deployment claims
model rankings
safety certification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064240" cy="4572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2600" b="1">
                <a:solidFill>
                  <a:srgbClr val="17324D"/>
                </a:solidFill>
                <a:latin typeface="Aptos"/>
              </a:rPr>
              <a:t>Reproducible artifact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519672"/>
            <a:ext cx="11155680" cy="18288"/>
          </a:xfrm>
          <a:prstGeom prst="rect">
            <a:avLst/>
          </a:prstGeom>
          <a:solidFill>
            <a:srgbClr val="EA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6565392"/>
            <a:ext cx="6400800" cy="16459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66573"/>
                </a:solidFill>
                <a:latin typeface="Aptos"/>
              </a:rPr>
              <a:t>MAS-RELIAB · Dev Parth · Offline simulation pilot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47104"/>
            <a:ext cx="41148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66573"/>
                </a:solidFill>
                <a:latin typeface="Aptos"/>
              </a:rPr>
              <a:t>18</a:t>
            </a:r>
          </a:p>
        </p:txBody>
      </p:sp>
      <p:pic>
        <p:nvPicPr>
          <p:cNvPr id="7" name="Picture 6" descr="figure_05_experi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43000"/>
            <a:ext cx="5852160" cy="285433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92240" y="1234440"/>
            <a:ext cx="4892040" cy="4343400"/>
          </a:xfrm>
          <a:prstGeom prst="rect">
            <a:avLst/>
          </a:prstGeom>
          <a:noFill/>
        </p:spPr>
        <p:txBody>
          <a:bodyPr wrap="square" rIns="54864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17324D"/>
                </a:solidFill>
                <a:latin typeface="Aptos"/>
              </a:defRPr>
            </a:pPr>
            <a:r>
              <a:t>• `bash scripts/run_pilot.sh` regenerates data and results.</a:t>
            </a:r>
          </a:p>
          <a:p>
            <a:pPr>
              <a:spcAft>
                <a:spcPts val="900"/>
              </a:spcAft>
              <a:defRPr sz="1600">
                <a:solidFill>
                  <a:srgbClr val="17324D"/>
                </a:solidFill>
                <a:latin typeface="Aptos"/>
              </a:defRPr>
            </a:pPr>
            <a:r>
              <a:t>• Raw episodes, 82,800 events, seeds, config, source/data hashes.</a:t>
            </a:r>
          </a:p>
          <a:p>
            <a:pPr>
              <a:spcAft>
                <a:spcPts val="900"/>
              </a:spcAft>
              <a:defRPr sz="1600">
                <a:solidFill>
                  <a:srgbClr val="17324D"/>
                </a:solidFill>
                <a:latin typeface="Aptos"/>
              </a:defRPr>
            </a:pPr>
            <a:r>
              <a:t>• Eight measured CSV tables + six empirical figures.</a:t>
            </a:r>
          </a:p>
          <a:p>
            <a:pPr>
              <a:spcAft>
                <a:spcPts val="900"/>
              </a:spcAft>
              <a:defRPr sz="1600">
                <a:solidFill>
                  <a:srgbClr val="17324D"/>
                </a:solidFill>
                <a:latin typeface="Aptos"/>
              </a:defRPr>
            </a:pPr>
            <a:r>
              <a:t>• 18 tests pass; GitHub Actions workflow included.</a:t>
            </a:r>
          </a:p>
          <a:p>
            <a:pPr>
              <a:spcAft>
                <a:spcPts val="900"/>
              </a:spcAft>
              <a:defRPr sz="1600">
                <a:solidFill>
                  <a:srgbClr val="17324D"/>
                </a:solidFill>
                <a:latin typeface="Aptos"/>
              </a:defRPr>
            </a:pPr>
            <a:r>
              <a:t>• Data card, fault protocol, experiment registry, methodology review.</a:t>
            </a:r>
          </a:p>
          <a:p>
            <a:pPr>
              <a:spcAft>
                <a:spcPts val="900"/>
              </a:spcAft>
              <a:defRPr sz="1600">
                <a:solidFill>
                  <a:srgbClr val="17324D"/>
                </a:solidFill>
                <a:latin typeface="Aptos"/>
              </a:defRPr>
            </a:pPr>
            <a:r>
              <a:t>• Release weakness: manifest has no Git commit; tag before publication.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064240" cy="4572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2600" b="1">
                <a:solidFill>
                  <a:srgbClr val="17324D"/>
                </a:solidFill>
                <a:latin typeface="Aptos"/>
              </a:rPr>
              <a:t>What the pilot establishes — and what comes next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519672"/>
            <a:ext cx="11155680" cy="18288"/>
          </a:xfrm>
          <a:prstGeom prst="rect">
            <a:avLst/>
          </a:prstGeom>
          <a:solidFill>
            <a:srgbClr val="EA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6565392"/>
            <a:ext cx="6400800" cy="16459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66573"/>
                </a:solidFill>
                <a:latin typeface="Aptos"/>
              </a:rPr>
              <a:t>MAS-RELIAB · Dev Parth · Offline simulation pilot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47104"/>
            <a:ext cx="41148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66573"/>
                </a:solidFill>
                <a:latin typeface="Aptos"/>
              </a:rPr>
              <a:t>19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143000"/>
            <a:ext cx="5303520" cy="4434840"/>
          </a:xfrm>
          <a:prstGeom prst="roundRect">
            <a:avLst/>
          </a:prstGeom>
          <a:solidFill>
            <a:srgbClr val="EA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17320"/>
            <a:ext cx="484632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2100" b="1">
                <a:solidFill>
                  <a:srgbClr val="087E8B"/>
                </a:solidFill>
                <a:latin typeface="Aptos"/>
              </a:rPr>
              <a:t>Established inside simulator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874519"/>
            <a:ext cx="4709160" cy="3200400"/>
          </a:xfrm>
          <a:prstGeom prst="rect">
            <a:avLst/>
          </a:prstGeom>
          <a:noFill/>
        </p:spPr>
        <p:txBody>
          <a:bodyPr wrap="square" rIns="54864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17324D"/>
                </a:solidFill>
                <a:latin typeface="Aptos"/>
              </a:defRPr>
            </a:pPr>
            <a:r>
              <a:t>• Auditable intervention and lineage mechanics</a:t>
            </a:r>
          </a:p>
          <a:p>
            <a:pPr>
              <a:spcAft>
                <a:spcPts val="900"/>
              </a:spcAft>
              <a:defRPr sz="1600">
                <a:solidFill>
                  <a:srgbClr val="17324D"/>
                </a:solidFill>
                <a:latin typeface="Aptos"/>
              </a:defRPr>
            </a:pPr>
            <a:r>
              <a:t>• Trace evidence changes attribution</a:t>
            </a:r>
          </a:p>
          <a:p>
            <a:pPr>
              <a:spcAft>
                <a:spcPts val="900"/>
              </a:spcAft>
              <a:defRPr sz="1600">
                <a:solidFill>
                  <a:srgbClr val="17324D"/>
                </a:solidFill>
                <a:latin typeface="Aptos"/>
              </a:defRPr>
            </a:pPr>
            <a:r>
              <a:t>• Local oracle verification contains cascades</a:t>
            </a:r>
          </a:p>
          <a:p>
            <a:pPr>
              <a:spcAft>
                <a:spcPts val="900"/>
              </a:spcAft>
              <a:defRPr sz="1600">
                <a:solidFill>
                  <a:srgbClr val="17324D"/>
                </a:solidFill>
                <a:latin typeface="Aptos"/>
              </a:defRPr>
            </a:pPr>
            <a:r>
              <a:t>• Recovery has measurable reliability–cost trade-offs</a:t>
            </a:r>
          </a:p>
          <a:p>
            <a:pPr>
              <a:spcAft>
                <a:spcPts val="900"/>
              </a:spcAft>
              <a:defRPr sz="1600">
                <a:solidFill>
                  <a:srgbClr val="17324D"/>
                </a:solidFill>
                <a:latin typeface="Aptos"/>
              </a:defRPr>
            </a:pPr>
            <a:r>
              <a:t>• Hypotheses can be rejected transparently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143000"/>
            <a:ext cx="5303520" cy="4434840"/>
          </a:xfrm>
          <a:prstGeom prst="roundRect">
            <a:avLst/>
          </a:prstGeom>
          <a:solidFill>
            <a:srgbClr val="EA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417320"/>
            <a:ext cx="484632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2100" b="1">
                <a:solidFill>
                  <a:srgbClr val="F28C28"/>
                </a:solidFill>
                <a:latin typeface="Aptos"/>
              </a:rPr>
              <a:t>Required external replication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1874519"/>
            <a:ext cx="4709160" cy="3383280"/>
          </a:xfrm>
          <a:prstGeom prst="rect">
            <a:avLst/>
          </a:prstGeom>
          <a:noFill/>
        </p:spPr>
        <p:txBody>
          <a:bodyPr wrap="square" rIns="54864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17324D"/>
                </a:solidFill>
                <a:latin typeface="Aptos"/>
              </a:defRPr>
            </a:pPr>
            <a:r>
              <a:t>• Multiple real model families and frozen prompts</a:t>
            </a:r>
          </a:p>
          <a:p>
            <a:pPr>
              <a:spcAft>
                <a:spcPts val="900"/>
              </a:spcAft>
              <a:defRPr sz="1600">
                <a:solidFill>
                  <a:srgbClr val="17324D"/>
                </a:solidFill>
                <a:latin typeface="Aptos"/>
              </a:defRPr>
            </a:pPr>
            <a:r>
              <a:t>• Sandboxed tools and broader task domains</a:t>
            </a:r>
          </a:p>
          <a:p>
            <a:pPr>
              <a:spcAft>
                <a:spcPts val="900"/>
              </a:spcAft>
              <a:defRPr sz="1600">
                <a:solidFill>
                  <a:srgbClr val="17324D"/>
                </a:solidFill>
                <a:latin typeface="Aptos"/>
              </a:defRPr>
            </a:pPr>
            <a:r>
              <a:t>• Fallible verifiers and realistic logs</a:t>
            </a:r>
          </a:p>
          <a:p>
            <a:pPr>
              <a:spcAft>
                <a:spcPts val="900"/>
              </a:spcAft>
              <a:defRPr sz="1600">
                <a:solidFill>
                  <a:srgbClr val="17324D"/>
                </a:solidFill>
                <a:latin typeface="Aptos"/>
              </a:defRPr>
            </a:pPr>
            <a:r>
              <a:t>• Independent synchronized RNG/counterfactual streams</a:t>
            </a:r>
          </a:p>
          <a:p>
            <a:pPr>
              <a:spcAft>
                <a:spcPts val="900"/>
              </a:spcAft>
              <a:defRPr sz="1600">
                <a:solidFill>
                  <a:srgbClr val="17324D"/>
                </a:solidFill>
                <a:latin typeface="Aptos"/>
              </a:defRPr>
            </a:pPr>
            <a:r>
              <a:t>• Observed tokens, latency, cost, hardware</a:t>
            </a:r>
          </a:p>
          <a:p>
            <a:pPr>
              <a:spcAft>
                <a:spcPts val="900"/>
              </a:spcAft>
              <a:defRPr sz="1600">
                <a:solidFill>
                  <a:srgbClr val="17324D"/>
                </a:solidFill>
                <a:latin typeface="Aptos"/>
              </a:defRPr>
            </a:pPr>
            <a:r>
              <a:t>• Preregistered parameter sensitivity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064240" cy="4572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2600" b="1">
                <a:solidFill>
                  <a:srgbClr val="17324D"/>
                </a:solidFill>
                <a:latin typeface="Aptos"/>
              </a:rPr>
              <a:t>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519672"/>
            <a:ext cx="11155680" cy="18288"/>
          </a:xfrm>
          <a:prstGeom prst="rect">
            <a:avLst/>
          </a:prstGeom>
          <a:solidFill>
            <a:srgbClr val="EA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6565392"/>
            <a:ext cx="6400800" cy="16459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66573"/>
                </a:solidFill>
                <a:latin typeface="Aptos"/>
              </a:rPr>
              <a:t>MAS-RELIAB · Dev Parth · Offline simulation pilot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47104"/>
            <a:ext cx="41148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66573"/>
                </a:solidFill>
                <a:latin typeface="Aptos"/>
              </a:rPr>
              <a:t>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143000"/>
            <a:ext cx="1060704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2500" b="1">
                <a:solidFill>
                  <a:srgbClr val="087E8B"/>
                </a:solidFill>
                <a:latin typeface="Aptos"/>
              </a:rPr>
              <a:t>MAS-RELIAB is now executable, measured, and auditable.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965960"/>
            <a:ext cx="9875520" cy="3154680"/>
          </a:xfrm>
          <a:prstGeom prst="rect">
            <a:avLst/>
          </a:prstGeom>
          <a:noFill/>
        </p:spPr>
        <p:txBody>
          <a:bodyPr wrap="square" rIns="54864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17324D"/>
                </a:solidFill>
                <a:latin typeface="Aptos"/>
              </a:defRPr>
            </a:pPr>
            <a:r>
              <a:t>• 16,560 episodes across four topologies and six experiments.</a:t>
            </a:r>
          </a:p>
          <a:p>
            <a:pPr>
              <a:spcAft>
                <a:spcPts val="900"/>
              </a:spcAft>
              <a:defRPr sz="2000">
                <a:solidFill>
                  <a:srgbClr val="17324D"/>
                </a:solidFill>
                <a:latin typeface="Aptos"/>
              </a:defRPr>
            </a:pPr>
            <a:r>
              <a:t>• H2 and H3 supported; H1 mixed; H4–H6 not supported.</a:t>
            </a:r>
          </a:p>
          <a:p>
            <a:pPr>
              <a:spcAft>
                <a:spcPts val="900"/>
              </a:spcAft>
              <a:defRPr sz="2000">
                <a:solidFill>
                  <a:srgbClr val="17324D"/>
                </a:solidFill>
                <a:latin typeface="Aptos"/>
              </a:defRPr>
            </a:pPr>
            <a:r>
              <a:t>• Report EPR with DAF and reachability — no single score is sufficient.</a:t>
            </a:r>
          </a:p>
          <a:p>
            <a:pPr>
              <a:spcAft>
                <a:spcPts val="900"/>
              </a:spcAft>
              <a:defRPr sz="2000">
                <a:solidFill>
                  <a:srgbClr val="17324D"/>
                </a:solidFill>
                <a:latin typeface="Aptos"/>
              </a:defRPr>
            </a:pPr>
            <a:r>
              <a:t>• The honest contribution is the integrated experimental methodology.</a:t>
            </a:r>
          </a:p>
          <a:p>
            <a:pPr>
              <a:spcAft>
                <a:spcPts val="900"/>
              </a:spcAft>
              <a:defRPr sz="2000">
                <a:solidFill>
                  <a:srgbClr val="17324D"/>
                </a:solidFill>
                <a:latin typeface="Aptos"/>
              </a:defRPr>
            </a:pPr>
            <a:r>
              <a:t>• The honest limitation is equally clear: this is simulation-pilot evidence only.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5532120"/>
            <a:ext cx="310896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2800" b="1">
                <a:solidFill>
                  <a:srgbClr val="17324D"/>
                </a:solidFill>
                <a:latin typeface="Aptos"/>
              </a:rPr>
              <a:t>Questions?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064240" cy="4572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2600" b="1">
                <a:solidFill>
                  <a:srgbClr val="17324D"/>
                </a:solidFill>
                <a:latin typeface="Aptos"/>
              </a:rPr>
              <a:t>Viva backup: likely questions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519672"/>
            <a:ext cx="11155680" cy="18288"/>
          </a:xfrm>
          <a:prstGeom prst="rect">
            <a:avLst/>
          </a:prstGeom>
          <a:solidFill>
            <a:srgbClr val="EA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6565392"/>
            <a:ext cx="6400800" cy="16459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66573"/>
                </a:solidFill>
                <a:latin typeface="Aptos"/>
              </a:rPr>
              <a:t>MAS-RELIAB · Dev Parth · Offline simulation pilot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47104"/>
            <a:ext cx="41148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66573"/>
                </a:solidFill>
                <a:latin typeface="Aptos"/>
              </a:rPr>
              <a:t>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143000"/>
            <a:ext cx="10332720" cy="4480560"/>
          </a:xfrm>
          <a:prstGeom prst="rect">
            <a:avLst/>
          </a:prstGeom>
          <a:noFill/>
        </p:spPr>
        <p:txBody>
          <a:bodyPr wrap="square" rIns="54864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17324D"/>
                </a:solidFill>
                <a:latin typeface="Aptos"/>
              </a:defRPr>
            </a:pPr>
            <a:r>
              <a:t>• Why simulate instead of use LLMs?</a:t>
            </a:r>
          </a:p>
          <a:p>
            <a:pPr>
              <a:spcAft>
                <a:spcPts val="900"/>
              </a:spcAft>
              <a:defRPr sz="1800">
                <a:solidFill>
                  <a:srgbClr val="17324D"/>
                </a:solidFill>
                <a:latin typeface="Aptos"/>
              </a:defRPr>
            </a:pPr>
            <a:r>
              <a:t>• Why is H1 mixed rather than supported?</a:t>
            </a:r>
          </a:p>
          <a:p>
            <a:pPr>
              <a:spcAft>
                <a:spcPts val="900"/>
              </a:spcAft>
              <a:defRPr sz="1800">
                <a:solidFill>
                  <a:srgbClr val="17324D"/>
                </a:solidFill>
                <a:latin typeface="Aptos"/>
              </a:defRPr>
            </a:pPr>
            <a:r>
              <a:t>• Why is late EPR zero but DAF high?</a:t>
            </a:r>
          </a:p>
          <a:p>
            <a:pPr>
              <a:spcAft>
                <a:spcPts val="900"/>
              </a:spcAft>
              <a:defRPr sz="1800">
                <a:solidFill>
                  <a:srgbClr val="17324D"/>
                </a:solidFill>
                <a:latin typeface="Aptos"/>
              </a:defRPr>
            </a:pPr>
            <a:r>
              <a:t>• Does full-trace attribution leak the answer?</a:t>
            </a:r>
          </a:p>
          <a:p>
            <a:pPr>
              <a:spcAft>
                <a:spcPts val="900"/>
              </a:spcAft>
              <a:defRPr sz="1800">
                <a:solidFill>
                  <a:srgbClr val="17324D"/>
                </a:solidFill>
                <a:latin typeface="Aptos"/>
              </a:defRPr>
            </a:pPr>
            <a:r>
              <a:t>• Why not publish a composite reliability score?</a:t>
            </a:r>
          </a:p>
          <a:p>
            <a:pPr>
              <a:spcAft>
                <a:spcPts val="900"/>
              </a:spcAft>
              <a:defRPr sz="1800">
                <a:solidFill>
                  <a:srgbClr val="17324D"/>
                </a:solidFill>
                <a:latin typeface="Aptos"/>
              </a:defRPr>
            </a:pPr>
            <a:r>
              <a:t>• How would you establish external validity?</a:t>
            </a:r>
          </a:p>
          <a:p>
            <a:pPr>
              <a:spcAft>
                <a:spcPts val="900"/>
              </a:spcAft>
              <a:defRPr sz="1800">
                <a:solidFill>
                  <a:srgbClr val="17324D"/>
                </a:solidFill>
                <a:latin typeface="Aptos"/>
              </a:defRPr>
            </a:pPr>
            <a:r>
              <a:t>• What would falsify the methodology’s usefulness?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5715000"/>
            <a:ext cx="886968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1800" b="1">
                <a:solidFill>
                  <a:srgbClr val="087E8B"/>
                </a:solidFill>
                <a:latin typeface="Aptos"/>
              </a:rPr>
              <a:t>Answer pattern: result → limitation → next validation step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